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ir.oscarhealth.com/news-events/press-releases/detail/224/oscar-health-announces-record-financial-results-for-first-half-2026-and-raises-full-year-2026-outlook" TargetMode="External"/><Relationship Id="rId3" Type="http://schemas.openxmlformats.org/officeDocument/2006/relationships/hyperlink" Target="https://ir.oscarhealth.com/sec-filings/all-sec-filings/content/0001568651-26-000069/oscr-20260630.htm" TargetMode="External"/><Relationship Id="rId4" Type="http://schemas.openxmlformats.org/officeDocument/2006/relationships/hyperlink" Target="https://www.sec.gov/Archives/edgar/data/1568651/000156865126000011/oscr-20251231.htm" TargetMode="External"/><Relationship Id="rId5" Type="http://schemas.openxmlformats.org/officeDocument/2006/relationships/hyperlink" Target="https://oscarhealth.com/news/oscar-health-building-new-consumer-health-economy" TargetMode="External"/><Relationship Id="rId6" Type="http://schemas.openxmlformats.org/officeDocument/2006/relationships/hyperlink" Target="https://d1io3yog0oux5.cloudfront.net/_a4736b74167aabc165e5ceaa51dc6f0d/hioscar/db/3572/33134/file/Oscar+Health+2026+Investor+Day+Fact+Sheet.pdf" TargetMode="External"/><Relationship Id="rId7" Type="http://schemas.openxmlformats.org/officeDocument/2006/relationships/hyperlink" Target="https://www.fool.com/earnings/call-transcripts/2026/08/06/oscar-health-oscr-q2-2026-earnings-call-transcript/" TargetMode="External"/><Relationship Id="rId8" Type="http://schemas.openxmlformats.org/officeDocument/2006/relationships/hyperlink" Target="https://ir.oscarhealth.com/news-events/press-releases/detail/226/oscar-health-inc-2026-third-quarter-earnings-conference-call" TargetMode="External"/><Relationship Id="rId9" Type="http://schemas.openxmlformats.org/officeDocument/2006/relationships/hyperlink" Target="https://finance.yahoo.com/quote/OSCR/" TargetMode="External"/><Relationship Id="rId10" Type="http://schemas.openxmlformats.org/officeDocument/2006/relationships/hyperlink" Target="https://finance.yahoo.com/quote/OSCR/analysis/" TargetMode="External"/><Relationship Id="rId11" Type="http://schemas.openxmlformats.org/officeDocument/2006/relationships/hyperlink" Target="https://www.macrotrends.net/stocks/charts/OSCR/oscar-health/revenue" TargetMode="External"/><Relationship Id="rId12" Type="http://schemas.openxmlformats.org/officeDocument/2006/relationships/hyperlink" Target="https://www.kff.org/affordable-care-act/how-has-insurer-participation-in-the-aca-marketplaces-changed-in-2026/" TargetMode="External"/><Relationship Id="rId13" Type="http://schemas.openxmlformats.org/officeDocument/2006/relationships/hyperlink" Target="https://www.kff.org/affordable-care-act/tracking-insurer-participation-changes-in-the-aca-marketplaces-in-2027/" TargetMode="External"/><Relationship Id="rId14" Type="http://schemas.openxmlformats.org/officeDocument/2006/relationships/hyperlink" Target="https://www.healthcare.gov/quick-guide/dates-and-deadlines/" TargetMode="External"/><Relationship Id="rId15" Type="http://schemas.openxmlformats.org/officeDocument/2006/relationships/hyperlink" Target="https://www.kff.org/affordable-care-act/how-much-and-why-aca-marketplace-premiums-are-going-up-in-2027/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B2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457200"/>
            <a:ext cx="4663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2587D"/>
                </a:solidFill>
                <a:latin typeface="Aptos"/>
              </a:rPr>
              <a:t>OSCAR HEALTH, INC.  |  NYSE: OSCR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86384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40" b="1" i="0" u="none">
                <a:solidFill>
                  <a:srgbClr val="65707B"/>
                </a:solidFill>
                <a:latin typeface="Aptos"/>
              </a:rPr>
              <a:t>LONG EQUITY THESIS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21792" y="1097280"/>
            <a:ext cx="10945368" cy="0"/>
          </a:xfrm>
          <a:prstGeom prst="line">
            <a:avLst/>
          </a:prstGeom>
          <a:ln w="12700">
            <a:solidFill>
              <a:srgbClr val="1B2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21792" y="1499616"/>
            <a:ext cx="7040880" cy="12252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3050" b="1" i="0" u="none">
                <a:solidFill>
                  <a:srgbClr val="1B2F44"/>
                </a:solidFill>
                <a:latin typeface="Aptos Display"/>
              </a:rPr>
              <a:t>An ACA operator at an earnings inflection—
with reserve risk still in the numbers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99232"/>
            <a:ext cx="6492240" cy="6217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310" b="0" i="0" u="none">
                <a:solidFill>
                  <a:srgbClr val="272F38"/>
                </a:solidFill>
                <a:latin typeface="Aptos"/>
              </a:rPr>
              <a:t>Oscar’s 2026 results show materially better reported underwriting and lower expense ratios. The long case is that scale and pricing hold after favorable prior-period items fade.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26679" y="1490472"/>
            <a:ext cx="3822191" cy="3383280"/>
          </a:xfrm>
          <a:prstGeom prst="rect">
            <a:avLst/>
          </a:prstGeom>
          <a:solidFill>
            <a:srgbClr val="F9FAFB"/>
          </a:solidFill>
          <a:ln w="889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73568" y="1719072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1" i="0" u="none">
                <a:solidFill>
                  <a:srgbClr val="32587D"/>
                </a:solidFill>
                <a:latin typeface="Aptos"/>
              </a:rPr>
              <a:t>REFERENCE SNAPSHOT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82712" y="2093976"/>
            <a:ext cx="20482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5707B"/>
                </a:solidFill>
                <a:latin typeface="Aptos"/>
              </a:rPr>
              <a:t>Share price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12680" y="2075688"/>
            <a:ext cx="12710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10" b="1" i="0" u="none">
                <a:solidFill>
                  <a:srgbClr val="1B2F44"/>
                </a:solidFill>
                <a:latin typeface="Aptos"/>
              </a:rPr>
              <a:t>$33.36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973568" y="2414016"/>
            <a:ext cx="3328416" cy="0"/>
          </a:xfrm>
          <a:prstGeom prst="line">
            <a:avLst/>
          </a:prstGeom>
          <a:ln w="698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982712" y="2615184"/>
            <a:ext cx="20482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5707B"/>
                </a:solidFill>
                <a:latin typeface="Aptos"/>
              </a:rPr>
              <a:t>Equity 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12680" y="2596896"/>
            <a:ext cx="12710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10" b="1" i="0" u="none">
                <a:solidFill>
                  <a:srgbClr val="1B2F44"/>
                </a:solidFill>
                <a:latin typeface="Aptos"/>
              </a:rPr>
              <a:t>~$10.3bn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973568" y="2935224"/>
            <a:ext cx="3328416" cy="0"/>
          </a:xfrm>
          <a:prstGeom prst="line">
            <a:avLst/>
          </a:prstGeom>
          <a:ln w="698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982712" y="3136391"/>
            <a:ext cx="20482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5707B"/>
                </a:solidFill>
                <a:latin typeface="Aptos"/>
              </a:rPr>
              <a:t>Effectuated members (Jun-26)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12680" y="3118103"/>
            <a:ext cx="12710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10" b="1" i="0" u="none">
                <a:solidFill>
                  <a:srgbClr val="1B2F44"/>
                </a:solidFill>
                <a:latin typeface="Aptos"/>
              </a:rPr>
              <a:t>2.963m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973568" y="3456432"/>
            <a:ext cx="3328416" cy="0"/>
          </a:xfrm>
          <a:prstGeom prst="line">
            <a:avLst/>
          </a:prstGeom>
          <a:ln w="698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982712" y="3657600"/>
            <a:ext cx="20482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5707B"/>
                </a:solidFill>
                <a:latin typeface="Aptos"/>
              </a:rPr>
              <a:t>Q2-26 revenue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12680" y="3639312"/>
            <a:ext cx="12710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10" b="1" i="0" u="none">
                <a:solidFill>
                  <a:srgbClr val="1B2F44"/>
                </a:solidFill>
                <a:latin typeface="Aptos"/>
              </a:rPr>
              <a:t>$4.88bn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73568" y="4270248"/>
            <a:ext cx="3328416" cy="4572"/>
          </a:xfrm>
          <a:prstGeom prst="rect">
            <a:avLst/>
          </a:prstGeom>
          <a:solidFill>
            <a:srgbClr val="325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82712" y="4379976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0" b="0" i="0" u="none">
                <a:solidFill>
                  <a:srgbClr val="65707B"/>
                </a:solidFill>
                <a:latin typeface="Aptos"/>
              </a:rPr>
              <a:t>2029 goals (management)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82712" y="4590288"/>
            <a:ext cx="333756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940" b="1" i="0" u="none">
                <a:solidFill>
                  <a:srgbClr val="32587D"/>
                </a:solidFill>
                <a:latin typeface="Aptos"/>
              </a:rPr>
              <a:t>&gt;20% CAGR  |  5–7% margin  |  &gt;$4 EPS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21792" y="4160520"/>
            <a:ext cx="6510528" cy="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40080" y="4389120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u="none">
                <a:solidFill>
                  <a:srgbClr val="306F53"/>
                </a:solidFill>
                <a:latin typeface="Aptos"/>
              </a:rPr>
              <a:t>THE LONG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654296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940" b="0" i="0" u="none">
                <a:solidFill>
                  <a:srgbClr val="272F38"/>
                </a:solidFill>
                <a:latin typeface="Aptos"/>
              </a:rPr>
              <a:t>Pricing reset and member scale may support a durable improvement in unit economics.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89504" y="4389120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u="none">
                <a:solidFill>
                  <a:srgbClr val="977439"/>
                </a:solidFill>
                <a:latin typeface="Aptos"/>
              </a:rPr>
              <a:t>THE CHECK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89504" y="4654296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940" b="0" i="0" u="none">
                <a:solidFill>
                  <a:srgbClr val="272F38"/>
                </a:solidFill>
                <a:latin typeface="Aptos"/>
              </a:rPr>
              <a:t>H1 op. earnings included $232m favorable prior-period development.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38928" y="4389120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u="none">
                <a:solidFill>
                  <a:srgbClr val="32587D"/>
                </a:solidFill>
                <a:latin typeface="Aptos"/>
              </a:rPr>
              <a:t>THE CATALYST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38928" y="4654296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940" b="0" i="0" u="none">
                <a:solidFill>
                  <a:srgbClr val="272F38"/>
                </a:solidFill>
                <a:latin typeface="Aptos"/>
              </a:rPr>
              <a:t>Q3 on 5 Nov. and 2027 enrollment test the quality of growth.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21792" y="5760720"/>
            <a:ext cx="10945368" cy="0"/>
          </a:xfrm>
          <a:prstGeom prst="line">
            <a:avLst/>
          </a:prstGeom>
          <a:ln w="8890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40080" y="5925312"/>
            <a:ext cx="1088136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0" i="0" u="none">
                <a:solidFill>
                  <a:srgbClr val="86909A"/>
                </a:solidFill>
                <a:latin typeface="Aptos"/>
              </a:rPr>
              <a:t>Information cutoff: 12 October 2026. Company targets are forward-looking; all valuation cases are illustrative and probability-unweighted.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6510528"/>
            <a:ext cx="22860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20" b="1" i="0" u="none">
                <a:solidFill>
                  <a:srgbClr val="86909A"/>
                </a:solidFill>
                <a:latin typeface="Aptos"/>
              </a:rPr>
              <a:t>OSCR  |  12 OCT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82880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0" b="1" i="0" u="none">
                <a:solidFill>
                  <a:srgbClr val="32587D"/>
                </a:solidFill>
                <a:latin typeface="Aptos"/>
              </a:rPr>
              <a:t>INVESTMENT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182880"/>
            <a:ext cx="2057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10" b="1" i="0" u="none">
                <a:solidFill>
                  <a:srgbClr val="65707B"/>
                </a:solidFill>
                <a:latin typeface="Aptos"/>
              </a:rPr>
              <a:t>12 OCTOBER 2026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75488" y="438912"/>
            <a:ext cx="11228832" cy="0"/>
          </a:xfrm>
          <a:prstGeom prst="line">
            <a:avLst/>
          </a:prstGeom>
          <a:ln w="12700">
            <a:solidFill>
              <a:srgbClr val="1B2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75488" y="6492240"/>
            <a:ext cx="11228832" cy="0"/>
          </a:xfrm>
          <a:prstGeom prst="line">
            <a:avLst/>
          </a:prstGeom>
          <a:ln w="7620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75488" y="6556248"/>
            <a:ext cx="80467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 i="0" u="none">
                <a:solidFill>
                  <a:srgbClr val="86909A"/>
                </a:solidFill>
                <a:latin typeface="Aptos"/>
              </a:rPr>
              <a:t>Oscar Health (OSCR)  |  Public-information analysis  |  12 Oct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547104"/>
            <a:ext cx="62179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40" b="1" i="0" u="none">
                <a:solidFill>
                  <a:srgbClr val="86909A"/>
                </a:solidFill>
                <a:latin typeface="Apto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630936"/>
            <a:ext cx="1120140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2230" b="1" i="0" u="none">
                <a:solidFill>
                  <a:srgbClr val="1B2F44"/>
                </a:solidFill>
                <a:latin typeface="Aptos Display"/>
              </a:rPr>
              <a:t>Investment summary: underwriting and scale are improving; earnings quality is the debate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" y="1069848"/>
            <a:ext cx="1110996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040" b="0" i="0" u="none">
                <a:solidFill>
                  <a:srgbClr val="65707B"/>
                </a:solidFill>
                <a:latin typeface="Aptos"/>
              </a:rPr>
              <a:t>The long case is attractive only if 2026’s reported progress persists after reserve development normalizes.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064" y="1517904"/>
            <a:ext cx="1554480" cy="310896"/>
          </a:xfrm>
          <a:prstGeom prst="rect">
            <a:avLst/>
          </a:prstGeom>
          <a:solidFill>
            <a:srgbClr val="1B2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" y="1531619"/>
            <a:ext cx="1371600" cy="288036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810" b="1" i="0" u="none">
                <a:solidFill>
                  <a:srgbClr val="FFFFFF"/>
                </a:solidFill>
                <a:latin typeface="Aptos"/>
              </a:rPr>
              <a:t>THESIS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66543" y="1517904"/>
            <a:ext cx="3959352" cy="310896"/>
          </a:xfrm>
          <a:prstGeom prst="rect">
            <a:avLst/>
          </a:prstGeom>
          <a:solidFill>
            <a:srgbClr val="1B2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57984" y="1531619"/>
            <a:ext cx="3776472" cy="288036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810" b="1" i="0" u="none">
                <a:solidFill>
                  <a:srgbClr val="FFFFFF"/>
                </a:solidFill>
                <a:latin typeface="Aptos"/>
              </a:rPr>
              <a:t>EVIDENCE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25896" y="1517904"/>
            <a:ext cx="2743200" cy="310896"/>
          </a:xfrm>
          <a:prstGeom prst="rect">
            <a:avLst/>
          </a:prstGeom>
          <a:solidFill>
            <a:srgbClr val="1B2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17336" y="1531619"/>
            <a:ext cx="2560320" cy="288036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810" b="1" i="0" u="none">
                <a:solidFill>
                  <a:srgbClr val="FFFFFF"/>
                </a:solidFill>
                <a:latin typeface="Aptos"/>
              </a:rPr>
              <a:t>WHAT IS NOT YET PROVEN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064" y="1828800"/>
            <a:ext cx="1554480" cy="9509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" y="1842516"/>
            <a:ext cx="1353312" cy="928116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930" b="1" i="0" u="none">
                <a:solidFill>
                  <a:srgbClr val="1B2F44"/>
                </a:solidFill>
                <a:latin typeface="Aptos"/>
              </a:rPr>
              <a:t>Underwriting reset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66543" y="1828800"/>
            <a:ext cx="3959352" cy="9509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67127" y="1842516"/>
            <a:ext cx="3758184" cy="928116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910" b="0" i="0" u="none">
                <a:solidFill>
                  <a:srgbClr val="272F38"/>
                </a:solidFill>
                <a:latin typeface="Aptos"/>
              </a:rPr>
              <a:t>Q2 MLR 79.2% reported (~82% excluding prior-period development); SG&amp;A ratio 14.2%, down from 18.7% y/y.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25896" y="1828800"/>
            <a:ext cx="2743200" cy="9509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1842516"/>
            <a:ext cx="2542032" cy="928116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910" b="0" i="0" u="none">
                <a:solidFill>
                  <a:srgbClr val="272F38"/>
                </a:solidFill>
                <a:latin typeface="Aptos"/>
              </a:rPr>
              <a:t>Whether core claims performance holds through 2027 renewals and later CMS true-ups.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12064" y="2779776"/>
            <a:ext cx="8257032" cy="0"/>
          </a:xfrm>
          <a:prstGeom prst="line">
            <a:avLst/>
          </a:prstGeom>
          <a:ln w="698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12064" y="2779776"/>
            <a:ext cx="1554480" cy="950976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2793492"/>
            <a:ext cx="1353312" cy="928116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930" b="1" i="0" u="none">
                <a:solidFill>
                  <a:srgbClr val="1B2F44"/>
                </a:solidFill>
                <a:latin typeface="Aptos"/>
              </a:rPr>
              <a:t>Scale and channels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066543" y="2779776"/>
            <a:ext cx="3959352" cy="950976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67127" y="2793492"/>
            <a:ext cx="3758184" cy="928116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910" b="0" i="0" u="none">
                <a:solidFill>
                  <a:srgbClr val="272F38"/>
                </a:solidFill>
                <a:latin typeface="Aptos"/>
              </a:rPr>
              <a:t>2.963m effectuated members at June 30 (+46% y/y); CHOICE membership roughly doubled y/y.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25896" y="2779776"/>
            <a:ext cx="2743200" cy="950976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0" y="2793492"/>
            <a:ext cx="2542032" cy="928116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910" b="0" i="0" u="none">
                <a:solidFill>
                  <a:srgbClr val="272F38"/>
                </a:solidFill>
                <a:latin typeface="Aptos"/>
              </a:rPr>
              <a:t>Paid retention, member mix and profitability of the incremental lives.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12064" y="3730752"/>
            <a:ext cx="8257032" cy="0"/>
          </a:xfrm>
          <a:prstGeom prst="line">
            <a:avLst/>
          </a:prstGeom>
          <a:ln w="698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512064" y="3730752"/>
            <a:ext cx="1554480" cy="9509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" y="3744468"/>
            <a:ext cx="1353312" cy="928116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930" b="1" i="0" u="none">
                <a:solidFill>
                  <a:srgbClr val="1B2F44"/>
                </a:solidFill>
                <a:latin typeface="Aptos"/>
              </a:rPr>
              <a:t>EPS optionality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066543" y="3730752"/>
            <a:ext cx="3959352" cy="9509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67127" y="3744468"/>
            <a:ext cx="3758184" cy="928116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910" b="0" i="0" u="none">
                <a:solidFill>
                  <a:srgbClr val="272F38"/>
                </a:solidFill>
                <a:latin typeface="Aptos"/>
              </a:rPr>
              <a:t>Management’s 2029 goals: &gt;20% revenue CAGR, 5–7% operating margin and &gt;$4 diluted EPS.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25896" y="3730752"/>
            <a:ext cx="2743200" cy="9509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26480" y="3744468"/>
            <a:ext cx="2542032" cy="928116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910" b="0" i="0" u="none">
                <a:solidFill>
                  <a:srgbClr val="272F38"/>
                </a:solidFill>
                <a:latin typeface="Aptos"/>
              </a:rPr>
              <a:t>The earnings ramp is management’s target—not current earnings or consensus.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12064" y="4681728"/>
            <a:ext cx="8257032" cy="0"/>
          </a:xfrm>
          <a:prstGeom prst="line">
            <a:avLst/>
          </a:prstGeom>
          <a:ln w="698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8997696" y="1517904"/>
            <a:ext cx="2670048" cy="3246120"/>
          </a:xfrm>
          <a:prstGeom prst="rect">
            <a:avLst/>
          </a:prstGeom>
          <a:solidFill>
            <a:srgbClr val="EBF1F6"/>
          </a:solidFill>
          <a:ln w="762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62288" y="1719072"/>
            <a:ext cx="2331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0" b="1" i="0" u="none">
                <a:solidFill>
                  <a:srgbClr val="32587D"/>
                </a:solidFill>
                <a:latin typeface="Aptos"/>
              </a:rPr>
              <a:t>VALUATION FRAME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62288" y="2048256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 i="0" u="none">
                <a:solidFill>
                  <a:srgbClr val="1B2F44"/>
                </a:solidFill>
                <a:latin typeface="Aptos Display"/>
              </a:rPr>
              <a:t>$33.36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62288" y="2496312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910" b="0" i="0" u="none">
                <a:solidFill>
                  <a:srgbClr val="272F38"/>
                </a:solidFill>
                <a:latin typeface="Aptos"/>
              </a:rPr>
              <a:t>14.8× FY27 EPS threshold of $2.25
8.3× 2029 EPS goal of $4 (undiscounted)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162288" y="3291840"/>
            <a:ext cx="2322576" cy="0"/>
          </a:xfrm>
          <a:prstGeom prst="line">
            <a:avLst/>
          </a:prstGeom>
          <a:ln w="8890">
            <a:solidFill>
              <a:srgbClr val="BF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9162288" y="3456432"/>
            <a:ext cx="2331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u="none">
                <a:solidFill>
                  <a:srgbClr val="32587D"/>
                </a:solidFill>
                <a:latin typeface="Aptos"/>
              </a:rPr>
              <a:t>LONG CASE / RISK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62288" y="3749039"/>
            <a:ext cx="2331720" cy="6858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900" b="0" i="0" u="none">
                <a:solidFill>
                  <a:srgbClr val="272F38"/>
                </a:solidFill>
                <a:latin typeface="Aptos"/>
              </a:rPr>
              <a:t>Illustrative $44 present value at $4 EPS × 15×, discounted at 10%. A $2 EPS / 10× miss case is ~$15.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12064" y="4956048"/>
            <a:ext cx="11155680" cy="832104"/>
          </a:xfrm>
          <a:prstGeom prst="rect">
            <a:avLst/>
          </a:prstGeom>
          <a:solidFill>
            <a:srgbClr val="F7F3EA"/>
          </a:solidFill>
          <a:ln w="7620">
            <a:solidFill>
              <a:srgbClr val="E2D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04088" y="5157216"/>
            <a:ext cx="17190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u="none">
                <a:solidFill>
                  <a:srgbClr val="977439"/>
                </a:solidFill>
                <a:latin typeface="Aptos"/>
              </a:rPr>
              <a:t>NEAR-TERM CONSTRAINT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560320" y="5093208"/>
            <a:ext cx="8750808" cy="46634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930" b="0" i="0" u="none">
                <a:solidFill>
                  <a:srgbClr val="272F38"/>
                </a:solidFill>
                <a:latin typeface="Aptos"/>
              </a:rPr>
              <a:t>H1 operating earnings of $1.093bn already exceed the $600–$800m FY26 outlook. The implied H2 result is a $293–$493m operating loss; the thesis is not a straight-line annualization of H1.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93776" y="6245352"/>
            <a:ext cx="11137392" cy="1554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700" b="0" i="0" u="none">
                <a:solidFill>
                  <a:srgbClr val="86909A"/>
                </a:solidFill>
                <a:latin typeface="Aptos"/>
              </a:rPr>
              <a:t>Sources: Oscar Q2/H1 2026 results and 10-Q; Sep. 16 Investor Day materials; Yahoo quote snapshot. Targets and calculations labeled.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82880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0" b="1" i="0" u="none">
                <a:solidFill>
                  <a:srgbClr val="32587D"/>
                </a:solidFill>
                <a:latin typeface="Aptos"/>
              </a:rPr>
              <a:t>REPORTED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182880"/>
            <a:ext cx="2057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10" b="1" i="0" u="none">
                <a:solidFill>
                  <a:srgbClr val="65707B"/>
                </a:solidFill>
                <a:latin typeface="Aptos"/>
              </a:rPr>
              <a:t>12 OCTOBER 2026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75488" y="438912"/>
            <a:ext cx="11228832" cy="0"/>
          </a:xfrm>
          <a:prstGeom prst="line">
            <a:avLst/>
          </a:prstGeom>
          <a:ln w="12700">
            <a:solidFill>
              <a:srgbClr val="1B2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75488" y="6492240"/>
            <a:ext cx="11228832" cy="0"/>
          </a:xfrm>
          <a:prstGeom prst="line">
            <a:avLst/>
          </a:prstGeom>
          <a:ln w="7620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75488" y="6556248"/>
            <a:ext cx="80467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 i="0" u="none">
                <a:solidFill>
                  <a:srgbClr val="86909A"/>
                </a:solidFill>
                <a:latin typeface="Aptos"/>
              </a:rPr>
              <a:t>Oscar Health (OSCR)  |  Public-information analysis  |  12 Oct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547104"/>
            <a:ext cx="62179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40" b="1" i="0" u="none">
                <a:solidFill>
                  <a:srgbClr val="86909A"/>
                </a:solidFill>
                <a:latin typeface="Aptos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630936"/>
            <a:ext cx="1120140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2230" b="1" i="0" u="none">
                <a:solidFill>
                  <a:srgbClr val="1B2F44"/>
                </a:solidFill>
                <a:latin typeface="Aptos Display"/>
              </a:rPr>
              <a:t>Q2 operating metrics improved sharply year over year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" y="1069848"/>
            <a:ext cx="1110996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040" b="0" i="0" u="none">
                <a:solidFill>
                  <a:srgbClr val="65707B"/>
                </a:solidFill>
                <a:latin typeface="Aptos"/>
              </a:rPr>
              <a:t>The move is visible in revenue, reported MLR, SG&amp;A and operating income; one-off development remains material.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609344"/>
            <a:ext cx="5266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u="none">
                <a:solidFill>
                  <a:srgbClr val="1B2F44"/>
                </a:solidFill>
                <a:latin typeface="Aptos"/>
              </a:rPr>
              <a:t>Revenue ($bn)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984248"/>
            <a:ext cx="65836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0" i="0" u="none">
                <a:solidFill>
                  <a:srgbClr val="65707B"/>
                </a:solidFill>
                <a:latin typeface="Aptos"/>
              </a:rPr>
              <a:t>Q2 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322576"/>
            <a:ext cx="65836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0" i="0" u="none">
                <a:solidFill>
                  <a:srgbClr val="65707B"/>
                </a:solidFill>
                <a:latin typeface="Aptos"/>
              </a:rPr>
              <a:t>Q2 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25880" y="1975104"/>
            <a:ext cx="3913631" cy="13716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325880" y="2313432"/>
            <a:ext cx="3913631" cy="13716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25880" y="1975104"/>
            <a:ext cx="2035088" cy="137160"/>
          </a:xfrm>
          <a:prstGeom prst="rect">
            <a:avLst/>
          </a:prstGeom>
          <a:solidFill>
            <a:srgbClr val="B8C1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325880" y="2313432"/>
            <a:ext cx="3472458" cy="137160"/>
          </a:xfrm>
          <a:prstGeom prst="rect">
            <a:avLst/>
          </a:prstGeom>
          <a:solidFill>
            <a:srgbClr val="325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0" y="1933956"/>
            <a:ext cx="5303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40" b="1" i="0" u="none">
                <a:solidFill>
                  <a:srgbClr val="65707B"/>
                </a:solidFill>
                <a:latin typeface="Aptos"/>
              </a:rPr>
              <a:t>$2.86bn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2272284"/>
            <a:ext cx="5303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40" b="1" i="0" u="none">
                <a:solidFill>
                  <a:srgbClr val="1B2F44"/>
                </a:solidFill>
                <a:latin typeface="Aptos"/>
              </a:rPr>
              <a:t>$4.88bn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9632" y="1609344"/>
            <a:ext cx="5266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u="none">
                <a:solidFill>
                  <a:srgbClr val="1B2F44"/>
                </a:solidFill>
                <a:latin typeface="Aptos"/>
              </a:rPr>
              <a:t>Medical loss ratio (%)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9632" y="1984248"/>
            <a:ext cx="65836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0" i="0" u="none">
                <a:solidFill>
                  <a:srgbClr val="65707B"/>
                </a:solidFill>
                <a:latin typeface="Aptos"/>
              </a:rPr>
              <a:t>Q2 2025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9632" y="2322576"/>
            <a:ext cx="65836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0" i="0" u="none">
                <a:solidFill>
                  <a:srgbClr val="65707B"/>
                </a:solidFill>
                <a:latin typeface="Aptos"/>
              </a:rPr>
              <a:t>Q2 2026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58584" y="1975104"/>
            <a:ext cx="3913631" cy="13716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958584" y="2313432"/>
            <a:ext cx="3913631" cy="13716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58584" y="1975104"/>
            <a:ext cx="3565318" cy="137160"/>
          </a:xfrm>
          <a:prstGeom prst="rect">
            <a:avLst/>
          </a:prstGeom>
          <a:solidFill>
            <a:srgbClr val="B8C1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58584" y="2313432"/>
            <a:ext cx="3099596" cy="137160"/>
          </a:xfrm>
          <a:prstGeom prst="rect">
            <a:avLst/>
          </a:prstGeom>
          <a:solidFill>
            <a:srgbClr val="325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36224" y="1933956"/>
            <a:ext cx="5303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40" b="1" i="0" u="none">
                <a:solidFill>
                  <a:srgbClr val="65707B"/>
                </a:solidFill>
                <a:latin typeface="Aptos"/>
              </a:rPr>
              <a:t>91.1%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36224" y="2272284"/>
            <a:ext cx="5303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40" b="1" i="0" u="none">
                <a:solidFill>
                  <a:srgbClr val="1B2F44"/>
                </a:solidFill>
                <a:latin typeface="Aptos"/>
              </a:rPr>
              <a:t>79.2%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3346704"/>
            <a:ext cx="5266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u="none">
                <a:solidFill>
                  <a:srgbClr val="1B2F44"/>
                </a:solidFill>
                <a:latin typeface="Aptos"/>
              </a:rPr>
              <a:t>SG&amp;A ratio (%)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3721608"/>
            <a:ext cx="65836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0" i="0" u="none">
                <a:solidFill>
                  <a:srgbClr val="65707B"/>
                </a:solidFill>
                <a:latin typeface="Aptos"/>
              </a:rPr>
              <a:t>Q2 2025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4059936"/>
            <a:ext cx="65836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0" i="0" u="none">
                <a:solidFill>
                  <a:srgbClr val="65707B"/>
                </a:solidFill>
                <a:latin typeface="Aptos"/>
              </a:rPr>
              <a:t>Q2 2026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325880" y="3712464"/>
            <a:ext cx="3913631" cy="13716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325880" y="4050791"/>
            <a:ext cx="3913631" cy="13716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325880" y="3712464"/>
            <a:ext cx="3659245" cy="137160"/>
          </a:xfrm>
          <a:prstGeom prst="rect">
            <a:avLst/>
          </a:prstGeom>
          <a:solidFill>
            <a:srgbClr val="B8C1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325880" y="4050791"/>
            <a:ext cx="2778678" cy="137160"/>
          </a:xfrm>
          <a:prstGeom prst="rect">
            <a:avLst/>
          </a:prstGeom>
          <a:solidFill>
            <a:srgbClr val="325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03520" y="3671316"/>
            <a:ext cx="5303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40" b="1" i="0" u="none">
                <a:solidFill>
                  <a:srgbClr val="65707B"/>
                </a:solidFill>
                <a:latin typeface="Aptos"/>
              </a:rPr>
              <a:t>18.7%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0" y="4009644"/>
            <a:ext cx="5303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40" b="1" i="0" u="none">
                <a:solidFill>
                  <a:srgbClr val="1B2F44"/>
                </a:solidFill>
                <a:latin typeface="Aptos"/>
              </a:rPr>
              <a:t>14.2%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99632" y="3346704"/>
            <a:ext cx="5266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u="none">
                <a:solidFill>
                  <a:srgbClr val="1B2F44"/>
                </a:solidFill>
                <a:latin typeface="Aptos"/>
              </a:rPr>
              <a:t>Operating income ($m)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99632" y="3721608"/>
            <a:ext cx="65836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0" i="0" u="none">
                <a:solidFill>
                  <a:srgbClr val="65707B"/>
                </a:solidFill>
                <a:latin typeface="Aptos"/>
              </a:rPr>
              <a:t>Q2 2025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99632" y="4059936"/>
            <a:ext cx="65836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0" i="0" u="none">
                <a:solidFill>
                  <a:srgbClr val="65707B"/>
                </a:solidFill>
                <a:latin typeface="Aptos"/>
              </a:rPr>
              <a:t>Q2 2026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851392" y="3657600"/>
            <a:ext cx="0" cy="603504"/>
          </a:xfrm>
          <a:prstGeom prst="line">
            <a:avLst/>
          </a:prstGeom>
          <a:ln w="8890">
            <a:solidFill>
              <a:srgbClr val="6570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8115300" y="3712464"/>
            <a:ext cx="736092" cy="137160"/>
          </a:xfrm>
          <a:prstGeom prst="rect">
            <a:avLst/>
          </a:prstGeom>
          <a:solidFill>
            <a:srgbClr val="B8C1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851392" y="4050791"/>
            <a:ext cx="1243675" cy="137160"/>
          </a:xfrm>
          <a:prstGeom prst="rect">
            <a:avLst/>
          </a:prstGeom>
          <a:solidFill>
            <a:srgbClr val="325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899648" y="3671316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40" b="1" i="0" u="none">
                <a:solidFill>
                  <a:srgbClr val="65707B"/>
                </a:solidFill>
                <a:latin typeface="Aptos"/>
              </a:rPr>
              <a:t>$(230)m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899648" y="4009644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40" b="1" i="0" u="none">
                <a:solidFill>
                  <a:srgbClr val="1B2F44"/>
                </a:solidFill>
                <a:latin typeface="Aptos"/>
              </a:rPr>
              <a:t>$389m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3504" y="5230368"/>
            <a:ext cx="137160" cy="118872"/>
          </a:xfrm>
          <a:prstGeom prst="rect">
            <a:avLst/>
          </a:prstGeom>
          <a:solidFill>
            <a:srgbClr val="B8C1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13816" y="5193792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90" b="0" i="0" u="none">
                <a:solidFill>
                  <a:srgbClr val="65707B"/>
                </a:solidFill>
                <a:latin typeface="Aptos"/>
              </a:rPr>
              <a:t>Q2 2025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746504" y="5230368"/>
            <a:ext cx="137160" cy="118872"/>
          </a:xfrm>
          <a:prstGeom prst="rect">
            <a:avLst/>
          </a:prstGeom>
          <a:solidFill>
            <a:srgbClr val="325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956816" y="5193792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90" b="0" i="0" u="none">
                <a:solidFill>
                  <a:srgbClr val="65707B"/>
                </a:solidFill>
                <a:latin typeface="Aptos"/>
              </a:rPr>
              <a:t>Q2 2026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03504" y="5532120"/>
            <a:ext cx="10991088" cy="0"/>
          </a:xfrm>
          <a:prstGeom prst="line">
            <a:avLst/>
          </a:prstGeom>
          <a:ln w="7620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621792" y="5669280"/>
            <a:ext cx="96926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u="none">
                <a:solidFill>
                  <a:srgbClr val="32587D"/>
                </a:solidFill>
                <a:latin typeface="Aptos"/>
              </a:rPr>
              <a:t>Read-through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737360" y="5614416"/>
            <a:ext cx="9765792" cy="3931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880" b="0" i="0" u="none">
                <a:solidFill>
                  <a:srgbClr val="272F38"/>
                </a:solidFill>
                <a:latin typeface="Aptos"/>
              </a:rPr>
              <a:t>MLR improved 11.9 points and SG&amp;A fell 4.5 points y/y. Q2 included $164m favorable prior-period development (~42% of operating income); management put MLR at roughly 82% excluding prior-period development.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3776" y="6245352"/>
            <a:ext cx="11137392" cy="1554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700" b="0" i="0" u="none">
                <a:solidFill>
                  <a:srgbClr val="86909A"/>
                </a:solidFill>
                <a:latin typeface="Aptos"/>
              </a:rPr>
              <a:t>Source: Oscar Q2 2026 results release and Aug. 6 earnings-call transcript. Reported Q2 figures; management’s ex-development estimate is approximate.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82880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0" b="1" i="0" u="none">
                <a:solidFill>
                  <a:srgbClr val="32587D"/>
                </a:solidFill>
                <a:latin typeface="Aptos"/>
              </a:rPr>
              <a:t>EARNINGS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182880"/>
            <a:ext cx="2057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10" b="1" i="0" u="none">
                <a:solidFill>
                  <a:srgbClr val="65707B"/>
                </a:solidFill>
                <a:latin typeface="Aptos"/>
              </a:rPr>
              <a:t>12 OCTOBER 2026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75488" y="438912"/>
            <a:ext cx="11228832" cy="0"/>
          </a:xfrm>
          <a:prstGeom prst="line">
            <a:avLst/>
          </a:prstGeom>
          <a:ln w="12700">
            <a:solidFill>
              <a:srgbClr val="1B2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75488" y="6492240"/>
            <a:ext cx="11228832" cy="0"/>
          </a:xfrm>
          <a:prstGeom prst="line">
            <a:avLst/>
          </a:prstGeom>
          <a:ln w="7620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75488" y="6556248"/>
            <a:ext cx="80467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 i="0" u="none">
                <a:solidFill>
                  <a:srgbClr val="86909A"/>
                </a:solidFill>
                <a:latin typeface="Aptos"/>
              </a:rPr>
              <a:t>Oscar Health (OSCR)  |  Public-information analysis  |  12 Oct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547104"/>
            <a:ext cx="62179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40" b="1" i="0" u="none">
                <a:solidFill>
                  <a:srgbClr val="86909A"/>
                </a:solidFill>
                <a:latin typeface="Aptos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630936"/>
            <a:ext cx="1120140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2230" b="1" i="0" u="none">
                <a:solidFill>
                  <a:srgbClr val="1B2F44"/>
                </a:solidFill>
                <a:latin typeface="Aptos Display"/>
              </a:rPr>
              <a:t>H1 earnings cannot be annualized: the FY26 outlook implies an H2 loss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" y="1069848"/>
            <a:ext cx="1110996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040" b="0" i="0" u="none">
                <a:solidFill>
                  <a:srgbClr val="65707B"/>
                </a:solidFill>
                <a:latin typeface="Aptos"/>
              </a:rPr>
              <a:t>This guidance math is the central near-term risk to the long thesis—not an alternative forecast.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1572768"/>
            <a:ext cx="5614416" cy="4087368"/>
          </a:xfrm>
          <a:prstGeom prst="rect">
            <a:avLst/>
          </a:prstGeom>
          <a:solidFill>
            <a:srgbClr val="F9FAFB"/>
          </a:solidFill>
          <a:ln w="762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1792224"/>
            <a:ext cx="5138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1" i="0" u="none">
                <a:solidFill>
                  <a:srgbClr val="32587D"/>
                </a:solidFill>
                <a:latin typeface="Aptos"/>
              </a:rPr>
              <a:t>OPERATING EARNINGS BRIDGE ($m)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2194560"/>
            <a:ext cx="21305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40" b="0" i="0" u="none">
                <a:solidFill>
                  <a:srgbClr val="272F38"/>
                </a:solidFill>
                <a:latin typeface="Aptos"/>
              </a:rPr>
              <a:t>H1 2026 reported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450591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0" b="0" i="0" u="none">
                <a:solidFill>
                  <a:srgbClr val="65707B"/>
                </a:solidFill>
                <a:latin typeface="Aptos"/>
              </a:rPr>
              <a:t>Reported actual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185416"/>
            <a:ext cx="100584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50" b="1" i="0" u="none">
                <a:solidFill>
                  <a:srgbClr val="1B2F44"/>
                </a:solidFill>
                <a:latin typeface="Aptos Display"/>
              </a:rPr>
              <a:t>1,093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68096" y="2871216"/>
            <a:ext cx="5129784" cy="0"/>
          </a:xfrm>
          <a:prstGeom prst="line">
            <a:avLst/>
          </a:prstGeom>
          <a:ln w="698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86384" y="2990088"/>
            <a:ext cx="21305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40" b="0" i="0" u="none">
                <a:solidFill>
                  <a:srgbClr val="272F38"/>
                </a:solidFill>
                <a:latin typeface="Aptos"/>
              </a:rPr>
              <a:t>FY2026 company outlook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324612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0" b="0" i="0" u="none">
                <a:solidFill>
                  <a:srgbClr val="65707B"/>
                </a:solidFill>
                <a:latin typeface="Aptos"/>
              </a:rPr>
              <a:t>$600m–$800m range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980944"/>
            <a:ext cx="100584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50" b="1" i="0" u="none">
                <a:solidFill>
                  <a:srgbClr val="32587D"/>
                </a:solidFill>
                <a:latin typeface="Aptos Display"/>
              </a:rPr>
              <a:t>700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17136" y="3044952"/>
            <a:ext cx="9875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0" i="0" u="none">
                <a:solidFill>
                  <a:srgbClr val="65707B"/>
                </a:solidFill>
                <a:latin typeface="Aptos"/>
              </a:rPr>
              <a:t>midpoint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8096" y="3666744"/>
            <a:ext cx="5129784" cy="0"/>
          </a:xfrm>
          <a:prstGeom prst="line">
            <a:avLst/>
          </a:prstGeom>
          <a:ln w="698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86384" y="3785615"/>
            <a:ext cx="21305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40" b="0" i="0" u="none">
                <a:solidFill>
                  <a:srgbClr val="272F38"/>
                </a:solidFill>
                <a:latin typeface="Aptos"/>
              </a:rPr>
              <a:t>Implied H2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4041648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0" b="0" i="0" u="none">
                <a:solidFill>
                  <a:srgbClr val="65707B"/>
                </a:solidFill>
                <a:latin typeface="Aptos"/>
              </a:rPr>
              <a:t>$(493)m to $(293)m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3776472"/>
            <a:ext cx="100584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50" b="1" i="0" u="none">
                <a:solidFill>
                  <a:srgbClr val="A34D45"/>
                </a:solidFill>
                <a:latin typeface="Aptos Display"/>
              </a:rPr>
              <a:t>-393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8952" y="4736592"/>
            <a:ext cx="5138928" cy="576072"/>
          </a:xfrm>
          <a:prstGeom prst="rect">
            <a:avLst/>
          </a:prstGeom>
          <a:solidFill>
            <a:srgbClr val="F8E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882896"/>
            <a:ext cx="4828032" cy="2468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919" b="1" i="0" u="none">
                <a:solidFill>
                  <a:srgbClr val="A34D45"/>
                </a:solidFill>
                <a:latin typeface="Aptos"/>
              </a:rPr>
              <a:t>The $393m midpoint H2 operating loss is the arithmetic needed to reconcile H1 with guidance.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9088" y="1801368"/>
            <a:ext cx="5166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1" i="0" u="none">
                <a:solidFill>
                  <a:srgbClr val="32587D"/>
                </a:solidFill>
                <a:latin typeface="Aptos"/>
              </a:rPr>
              <a:t>EARNINGS-QUALITY FACTS</a:t>
            </a:r>
          </a:p>
        </p:txBody>
      </p:sp>
      <p:sp>
        <p:nvSpPr>
          <p:cNvPr id="28" name="Oval 27"/>
          <p:cNvSpPr/>
          <p:nvPr/>
        </p:nvSpPr>
        <p:spPr>
          <a:xfrm>
            <a:off x="6419088" y="2263140"/>
            <a:ext cx="50292" cy="50292"/>
          </a:xfrm>
          <a:prstGeom prst="ellipse">
            <a:avLst/>
          </a:prstGeom>
          <a:solidFill>
            <a:srgbClr val="325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47103" y="2176272"/>
            <a:ext cx="4992624" cy="33832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969" b="0" i="0" u="none">
                <a:solidFill>
                  <a:srgbClr val="272F38"/>
                </a:solidFill>
                <a:latin typeface="Aptos"/>
              </a:rPr>
              <a:t>H1 favorable prior-period development: $232m.</a:t>
            </a:r>
          </a:p>
        </p:txBody>
      </p:sp>
      <p:sp>
        <p:nvSpPr>
          <p:cNvPr id="30" name="Oval 29"/>
          <p:cNvSpPr/>
          <p:nvPr/>
        </p:nvSpPr>
        <p:spPr>
          <a:xfrm>
            <a:off x="6419088" y="2766060"/>
            <a:ext cx="50292" cy="50292"/>
          </a:xfrm>
          <a:prstGeom prst="ellipse">
            <a:avLst/>
          </a:prstGeom>
          <a:solidFill>
            <a:srgbClr val="325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47103" y="2679192"/>
            <a:ext cx="4992624" cy="43891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969" b="0" i="0" u="none">
                <a:solidFill>
                  <a:srgbClr val="272F38"/>
                </a:solidFill>
                <a:latin typeface="Aptos"/>
              </a:rPr>
              <a:t>Q2’s $164m favorable development was about 42% of Q2 operating income.</a:t>
            </a:r>
          </a:p>
        </p:txBody>
      </p:sp>
      <p:sp>
        <p:nvSpPr>
          <p:cNvPr id="32" name="Oval 31"/>
          <p:cNvSpPr/>
          <p:nvPr/>
        </p:nvSpPr>
        <p:spPr>
          <a:xfrm>
            <a:off x="6419088" y="3378708"/>
            <a:ext cx="50292" cy="50292"/>
          </a:xfrm>
          <a:prstGeom prst="ellipse">
            <a:avLst/>
          </a:prstGeom>
          <a:solidFill>
            <a:srgbClr val="325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47103" y="3291840"/>
            <a:ext cx="4992624" cy="43891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969" b="0" i="0" u="none">
                <a:solidFill>
                  <a:srgbClr val="272F38"/>
                </a:solidFill>
                <a:latin typeface="Aptos"/>
              </a:rPr>
              <a:t>CFO indicated Q2 MLR was roughly 82% excluding prior-period development.</a:t>
            </a:r>
          </a:p>
        </p:txBody>
      </p:sp>
      <p:sp>
        <p:nvSpPr>
          <p:cNvPr id="34" name="Oval 33"/>
          <p:cNvSpPr/>
          <p:nvPr/>
        </p:nvSpPr>
        <p:spPr>
          <a:xfrm>
            <a:off x="6419088" y="4009644"/>
            <a:ext cx="50292" cy="50292"/>
          </a:xfrm>
          <a:prstGeom prst="ellipse">
            <a:avLst/>
          </a:prstGeom>
          <a:solidFill>
            <a:srgbClr val="325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47103" y="3922776"/>
            <a:ext cx="4992624" cy="6126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930" b="0" i="0" u="none">
                <a:solidFill>
                  <a:srgbClr val="272F38"/>
                </a:solidFill>
                <a:latin typeface="Aptos"/>
              </a:rPr>
              <a:t>FY26 guidance: revenue $18.7–$19.0bn; MLR 81–82%; SG&amp;A 15.6–16.1%; operating earnings $600–$800m.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419088" y="4800600"/>
            <a:ext cx="5148072" cy="0"/>
          </a:xfrm>
          <a:prstGeom prst="line">
            <a:avLst/>
          </a:prstGeom>
          <a:ln w="7620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437376" y="5001768"/>
            <a:ext cx="5093208" cy="42062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010" b="1" i="0" u="none">
                <a:solidFill>
                  <a:srgbClr val="1B2F44"/>
                </a:solidFill>
                <a:latin typeface="Aptos"/>
              </a:rPr>
              <a:t>Underwrite the underlying 2027 claims trend; do not extrapolate reported H1 earnings.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3776" y="6245352"/>
            <a:ext cx="11137392" cy="1554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700" b="0" i="0" u="none">
                <a:solidFill>
                  <a:srgbClr val="86909A"/>
                </a:solidFill>
                <a:latin typeface="Aptos"/>
              </a:rPr>
              <a:t>Source: Oscar Q2/H1 2026 results and Sep. 16 Investor Day guidance. Implied H2 = FY26 guidance less reported H1; midpoint shown for reference.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82880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0" b="1" i="0" u="none">
                <a:solidFill>
                  <a:srgbClr val="32587D"/>
                </a:solidFill>
                <a:latin typeface="Aptos"/>
              </a:rPr>
              <a:t>GROWTH AND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182880"/>
            <a:ext cx="2057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10" b="1" i="0" u="none">
                <a:solidFill>
                  <a:srgbClr val="65707B"/>
                </a:solidFill>
                <a:latin typeface="Aptos"/>
              </a:rPr>
              <a:t>12 OCTOBER 2026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75488" y="438912"/>
            <a:ext cx="11228832" cy="0"/>
          </a:xfrm>
          <a:prstGeom prst="line">
            <a:avLst/>
          </a:prstGeom>
          <a:ln w="12700">
            <a:solidFill>
              <a:srgbClr val="1B2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75488" y="6492240"/>
            <a:ext cx="11228832" cy="0"/>
          </a:xfrm>
          <a:prstGeom prst="line">
            <a:avLst/>
          </a:prstGeom>
          <a:ln w="7620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75488" y="6556248"/>
            <a:ext cx="80467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 i="0" u="none">
                <a:solidFill>
                  <a:srgbClr val="86909A"/>
                </a:solidFill>
                <a:latin typeface="Aptos"/>
              </a:rPr>
              <a:t>Oscar Health (OSCR)  |  Public-information analysis  |  12 Oct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547104"/>
            <a:ext cx="62179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40" b="1" i="0" u="none">
                <a:solidFill>
                  <a:srgbClr val="86909A"/>
                </a:solidFill>
                <a:latin typeface="Aptos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630936"/>
            <a:ext cx="1120140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2230" b="1" i="0" u="none">
                <a:solidFill>
                  <a:srgbClr val="1B2F44"/>
                </a:solidFill>
                <a:latin typeface="Aptos Display"/>
              </a:rPr>
              <a:t>Core ACA remains the thesis; CHOICE and Lucie are optionality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" y="1069848"/>
            <a:ext cx="1110996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040" b="0" i="0" u="none">
                <a:solidFill>
                  <a:srgbClr val="65707B"/>
                </a:solidFill>
                <a:latin typeface="Aptos"/>
              </a:rPr>
              <a:t>Separate the reported insurance engine from the distribution targets that have not yet translated into material earnings.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1581912"/>
            <a:ext cx="1664208" cy="347472"/>
          </a:xfrm>
          <a:prstGeom prst="rect">
            <a:avLst/>
          </a:prstGeom>
          <a:solidFill>
            <a:srgbClr val="1B2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1595628"/>
            <a:ext cx="1481328" cy="32461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790" b="1" i="0" u="none">
                <a:solidFill>
                  <a:srgbClr val="FFFFFF"/>
                </a:solidFill>
                <a:latin typeface="Aptos"/>
              </a:rPr>
              <a:t>CHANNEL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94560" y="1581912"/>
            <a:ext cx="3054096" cy="347472"/>
          </a:xfrm>
          <a:prstGeom prst="rect">
            <a:avLst/>
          </a:prstGeom>
          <a:solidFill>
            <a:srgbClr val="1B2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6000" y="1595628"/>
            <a:ext cx="2871215" cy="32461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790" b="1" i="0" u="none">
                <a:solidFill>
                  <a:srgbClr val="FFFFFF"/>
                </a:solidFill>
                <a:latin typeface="Aptos"/>
              </a:rPr>
              <a:t>CURRENT EVIDENCE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48656" y="1581912"/>
            <a:ext cx="2816352" cy="347472"/>
          </a:xfrm>
          <a:prstGeom prst="rect">
            <a:avLst/>
          </a:prstGeom>
          <a:solidFill>
            <a:srgbClr val="1B2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40096" y="1595628"/>
            <a:ext cx="2633472" cy="32461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790" b="1" i="0" u="none">
                <a:solidFill>
                  <a:srgbClr val="FFFFFF"/>
                </a:solidFill>
                <a:latin typeface="Aptos"/>
              </a:rPr>
              <a:t>MANAGEMENT TARGETS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65008" y="1581912"/>
            <a:ext cx="3621024" cy="347472"/>
          </a:xfrm>
          <a:prstGeom prst="rect">
            <a:avLst/>
          </a:prstGeom>
          <a:solidFill>
            <a:srgbClr val="1B2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56448" y="1595628"/>
            <a:ext cx="3438144" cy="32461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790" b="1" i="0" u="none">
                <a:solidFill>
                  <a:srgbClr val="FFFFFF"/>
                </a:solidFill>
                <a:latin typeface="Aptos"/>
              </a:rPr>
              <a:t>UNDERWRITING TREATMENT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0352" y="1929384"/>
            <a:ext cx="1664208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" y="1943100"/>
            <a:ext cx="1463040" cy="105613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919" b="1" i="0" u="none">
                <a:solidFill>
                  <a:srgbClr val="1B2F44"/>
                </a:solidFill>
                <a:latin typeface="Aptos"/>
              </a:rPr>
              <a:t>Oscar Insurance
(core)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94560" y="1929384"/>
            <a:ext cx="3054096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95144" y="1943100"/>
            <a:ext cx="2852927" cy="105613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890" b="0" i="0" u="none">
                <a:solidFill>
                  <a:srgbClr val="272F38"/>
                </a:solidFill>
                <a:latin typeface="Aptos"/>
              </a:rPr>
              <a:t>2.963m effectuated members at Jun-26; +46% y/y. FY26 revenue outlook $18.7–$19.0bn.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48656" y="1929384"/>
            <a:ext cx="2816352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49240" y="1943100"/>
            <a:ext cx="2615184" cy="105613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890" b="0" i="0" u="none">
                <a:solidFill>
                  <a:srgbClr val="272F38"/>
                </a:solidFill>
                <a:latin typeface="Aptos"/>
              </a:rPr>
              <a:t>&gt;18% national ACA share; 400–600 additional counties by 2029.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65008" y="1929384"/>
            <a:ext cx="3621024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65592" y="1943100"/>
            <a:ext cx="3419856" cy="105613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890" b="0" i="0" u="none">
                <a:solidFill>
                  <a:srgbClr val="272F38"/>
                </a:solidFill>
                <a:latin typeface="Aptos"/>
              </a:rPr>
              <a:t>Base thesis. Needs stable paid membership and underlying MLR through renewal.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30352" y="3008376"/>
            <a:ext cx="11155680" cy="0"/>
          </a:xfrm>
          <a:prstGeom prst="line">
            <a:avLst/>
          </a:prstGeom>
          <a:ln w="698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530352" y="3008376"/>
            <a:ext cx="1664208" cy="1078992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" y="3022092"/>
            <a:ext cx="1463040" cy="105613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919" b="1" i="0" u="none">
                <a:solidFill>
                  <a:srgbClr val="1B2F44"/>
                </a:solidFill>
                <a:latin typeface="Aptos"/>
              </a:rPr>
              <a:t>CHOICE / ICHRA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94560" y="3008376"/>
            <a:ext cx="3054096" cy="1078992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295144" y="3022092"/>
            <a:ext cx="2852927" cy="105613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890" b="0" i="0" u="none">
                <a:solidFill>
                  <a:srgbClr val="272F38"/>
                </a:solidFill>
                <a:latin typeface="Aptos"/>
              </a:rPr>
              <a:t>Management reported roughly 2× y/y membership; 250+ off-exchange products planned for 2027.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48656" y="3008376"/>
            <a:ext cx="2816352" cy="1078992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49240" y="3022092"/>
            <a:ext cx="2615184" cy="105613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890" b="0" i="0" u="none">
                <a:solidFill>
                  <a:srgbClr val="272F38"/>
                </a:solidFill>
                <a:latin typeface="Aptos"/>
              </a:rPr>
              <a:t>3× CHOICE market share by 2029.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65008" y="3008376"/>
            <a:ext cx="3621024" cy="1078992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65592" y="3022092"/>
            <a:ext cx="3419856" cy="105613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890" b="0" i="0" u="none">
                <a:solidFill>
                  <a:srgbClr val="272F38"/>
                </a:solidFill>
                <a:latin typeface="Aptos"/>
              </a:rPr>
              <a:t>Growth channel, but validate employer adoption, paid effectuation and risk mix.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30352" y="4087368"/>
            <a:ext cx="11155680" cy="0"/>
          </a:xfrm>
          <a:prstGeom prst="line">
            <a:avLst/>
          </a:prstGeom>
          <a:ln w="698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530352" y="4087368"/>
            <a:ext cx="1664208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" y="4101083"/>
            <a:ext cx="1463040" cy="105613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919" b="1" i="0" u="none">
                <a:solidFill>
                  <a:srgbClr val="1B2F44"/>
                </a:solidFill>
                <a:latin typeface="Aptos"/>
              </a:rPr>
              <a:t>Lucie Marketplace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94560" y="4087368"/>
            <a:ext cx="3054096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295144" y="4101083"/>
            <a:ext cx="2852927" cy="105613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890" b="0" i="0" u="none">
                <a:solidFill>
                  <a:srgbClr val="272F38"/>
                </a:solidFill>
                <a:latin typeface="Aptos"/>
              </a:rPr>
              <a:t>Connects consumers and brokers with 70+ carriers; CMS-approved EDE platform.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48656" y="4087368"/>
            <a:ext cx="2816352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49240" y="4101083"/>
            <a:ext cx="2615184" cy="105613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890" b="0" i="0" u="none">
                <a:solidFill>
                  <a:srgbClr val="272F38"/>
                </a:solidFill>
                <a:latin typeface="Aptos"/>
              </a:rPr>
              <a:t>~2.6m ACA / supplemental policies and 28k+ active brokers by 2029.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65008" y="4087368"/>
            <a:ext cx="3621024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65592" y="4101083"/>
            <a:ext cx="3419856" cy="105613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890" b="0" i="0" u="none">
                <a:solidFill>
                  <a:srgbClr val="272F38"/>
                </a:solidFill>
                <a:latin typeface="Aptos"/>
              </a:rPr>
              <a:t>Option value only. Policy and broker targets are not current revenue or earnings.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30352" y="5166359"/>
            <a:ext cx="11155680" cy="0"/>
          </a:xfrm>
          <a:prstGeom prst="line">
            <a:avLst/>
          </a:prstGeom>
          <a:ln w="698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530352" y="5330952"/>
            <a:ext cx="11155680" cy="548640"/>
          </a:xfrm>
          <a:prstGeom prst="rect">
            <a:avLst/>
          </a:prstGeom>
          <a:solidFill>
            <a:srgbClr val="F7F3EA"/>
          </a:solidFill>
          <a:ln w="7620">
            <a:solidFill>
              <a:srgbClr val="E2D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" y="5495544"/>
            <a:ext cx="14630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90" b="1" i="0" u="none">
                <a:solidFill>
                  <a:srgbClr val="977439"/>
                </a:solidFill>
                <a:latin typeface="Aptos"/>
              </a:rPr>
              <a:t>VALUATION DISCIPLINE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331720" y="5440680"/>
            <a:ext cx="9070848" cy="28346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900" b="0" i="0" u="none">
                <a:solidFill>
                  <a:srgbClr val="272F38"/>
                </a:solidFill>
                <a:latin typeface="Aptos"/>
              </a:rPr>
              <a:t>FY2025 ‘other revenue’ was $28.6m. Do not apply a software multiple to +Oscar or Lucie until external revenue, conversion and margins are disclosed at scale.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3776" y="6245352"/>
            <a:ext cx="11137392" cy="1554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700" b="0" i="0" u="none">
                <a:solidFill>
                  <a:srgbClr val="86909A"/>
                </a:solidFill>
                <a:latin typeface="Aptos"/>
              </a:rPr>
              <a:t>Source: Oscar Q2 release, FY2025 10-K and Sep. 16 Investor Day fact sheet. Long-term policy / broker objectives are company targets, not forecasts.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82880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0" b="1" i="0" u="none">
                <a:solidFill>
                  <a:srgbClr val="32587D"/>
                </a:solidFill>
                <a:latin typeface="Aptos"/>
              </a:rPr>
              <a:t>MARKET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182880"/>
            <a:ext cx="2057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10" b="1" i="0" u="none">
                <a:solidFill>
                  <a:srgbClr val="65707B"/>
                </a:solidFill>
                <a:latin typeface="Aptos"/>
              </a:rPr>
              <a:t>12 OCTOBER 2026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75488" y="438912"/>
            <a:ext cx="11228832" cy="0"/>
          </a:xfrm>
          <a:prstGeom prst="line">
            <a:avLst/>
          </a:prstGeom>
          <a:ln w="12700">
            <a:solidFill>
              <a:srgbClr val="1B2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75488" y="6492240"/>
            <a:ext cx="11228832" cy="0"/>
          </a:xfrm>
          <a:prstGeom prst="line">
            <a:avLst/>
          </a:prstGeom>
          <a:ln w="7620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75488" y="6556248"/>
            <a:ext cx="80467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 i="0" u="none">
                <a:solidFill>
                  <a:srgbClr val="86909A"/>
                </a:solidFill>
                <a:latin typeface="Aptos"/>
              </a:rPr>
              <a:t>Oscar Health (OSCR)  |  Public-information analysis  |  12 Oct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547104"/>
            <a:ext cx="62179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40" b="1" i="0" u="none">
                <a:solidFill>
                  <a:srgbClr val="86909A"/>
                </a:solidFill>
                <a:latin typeface="Aptos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630936"/>
            <a:ext cx="1120140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2230" b="1" i="0" u="none">
                <a:solidFill>
                  <a:srgbClr val="1B2F44"/>
                </a:solidFill>
                <a:latin typeface="Aptos Display"/>
              </a:rPr>
              <a:t>Oscar is gaining scale in a market where the established competitors remain larger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" y="1069848"/>
            <a:ext cx="1110996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040" b="0" i="0" u="none">
                <a:solidFill>
                  <a:srgbClr val="65707B"/>
                </a:solidFill>
                <a:latin typeface="Aptos"/>
              </a:rPr>
              <a:t>State count indicates footprint, not county-level availability, enrollment or market share.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572768"/>
            <a:ext cx="5276088" cy="4242816"/>
          </a:xfrm>
          <a:prstGeom prst="rect">
            <a:avLst/>
          </a:prstGeom>
          <a:solidFill>
            <a:srgbClr val="FFFFFF"/>
          </a:solidFill>
          <a:ln w="762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1801368"/>
            <a:ext cx="4754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1" i="0" u="none">
                <a:solidFill>
                  <a:srgbClr val="32587D"/>
                </a:solidFill>
                <a:latin typeface="Aptos"/>
              </a:rPr>
              <a:t>ACA MARKETPLACE FOOTPRINT (STATES)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267712"/>
            <a:ext cx="12252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40" b="1" i="0" u="none">
                <a:solidFill>
                  <a:srgbClr val="1B2F44"/>
                </a:solidFill>
                <a:latin typeface="Aptos"/>
              </a:rPr>
              <a:t>Oscar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84831" y="2299716"/>
            <a:ext cx="2907792" cy="164592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84831" y="2299716"/>
            <a:ext cx="1938528" cy="164592"/>
          </a:xfrm>
          <a:prstGeom prst="rect">
            <a:avLst/>
          </a:prstGeom>
          <a:solidFill>
            <a:srgbClr val="325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84064" y="2272284"/>
            <a:ext cx="3931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10" b="1" i="0" u="none">
                <a:solidFill>
                  <a:srgbClr val="1B2F44"/>
                </a:solidFill>
                <a:latin typeface="Aptos"/>
              </a:rPr>
              <a:t>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2926080"/>
            <a:ext cx="12252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40" b="0" i="0" u="none">
                <a:solidFill>
                  <a:srgbClr val="272F38"/>
                </a:solidFill>
                <a:latin typeface="Aptos"/>
              </a:rPr>
              <a:t>Elevance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84831" y="2958084"/>
            <a:ext cx="2907792" cy="164592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084831" y="2958084"/>
            <a:ext cx="1744675" cy="164592"/>
          </a:xfrm>
          <a:prstGeom prst="rect">
            <a:avLst/>
          </a:prstGeom>
          <a:solidFill>
            <a:srgbClr val="B8C1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84064" y="2930652"/>
            <a:ext cx="3931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10" b="1" i="0" u="none">
                <a:solidFill>
                  <a:srgbClr val="1B2F44"/>
                </a:solidFill>
                <a:latin typeface="Aptos"/>
              </a:rPr>
              <a:t>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3584448"/>
            <a:ext cx="12252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40" b="0" i="0" u="none">
                <a:solidFill>
                  <a:srgbClr val="272F38"/>
                </a:solidFill>
                <a:latin typeface="Aptos"/>
              </a:rPr>
              <a:t>Centene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84831" y="3616452"/>
            <a:ext cx="2907792" cy="164592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084831" y="3616452"/>
            <a:ext cx="2810865" cy="164592"/>
          </a:xfrm>
          <a:prstGeom prst="rect">
            <a:avLst/>
          </a:prstGeom>
          <a:solidFill>
            <a:srgbClr val="B8C1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84064" y="3589020"/>
            <a:ext cx="3931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10" b="1" i="0" u="none">
                <a:solidFill>
                  <a:srgbClr val="1B2F44"/>
                </a:solidFill>
                <a:latin typeface="Aptos"/>
              </a:rPr>
              <a:t>29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4242816"/>
            <a:ext cx="12252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40" b="0" i="0" u="none">
                <a:solidFill>
                  <a:srgbClr val="272F38"/>
                </a:solidFill>
                <a:latin typeface="Aptos"/>
              </a:rPr>
              <a:t>UnitedHealth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084831" y="4274820"/>
            <a:ext cx="2907792" cy="164592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084831" y="4274820"/>
            <a:ext cx="2907792" cy="164592"/>
          </a:xfrm>
          <a:prstGeom prst="rect">
            <a:avLst/>
          </a:prstGeom>
          <a:solidFill>
            <a:srgbClr val="B8C1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84064" y="4247388"/>
            <a:ext cx="3931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10" b="1" i="0" u="none">
                <a:solidFill>
                  <a:srgbClr val="1B2F44"/>
                </a:solidFill>
                <a:latin typeface="Aptos"/>
              </a:rPr>
              <a:t>30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084831" y="5001768"/>
            <a:ext cx="0" cy="73152"/>
          </a:xfrm>
          <a:prstGeom prst="line">
            <a:avLst/>
          </a:prstGeom>
          <a:ln w="571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947672" y="5120640"/>
            <a:ext cx="2926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20" b="0" i="0" u="none">
                <a:solidFill>
                  <a:srgbClr val="86909A"/>
                </a:solidFill>
                <a:latin typeface="Aptos"/>
              </a:rPr>
              <a:t>0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054096" y="5001768"/>
            <a:ext cx="0" cy="73152"/>
          </a:xfrm>
          <a:prstGeom prst="line">
            <a:avLst/>
          </a:prstGeom>
          <a:ln w="571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916936" y="5120640"/>
            <a:ext cx="2926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20" b="0" i="0" u="none">
                <a:solidFill>
                  <a:srgbClr val="86909A"/>
                </a:solidFill>
                <a:latin typeface="Aptos"/>
              </a:rPr>
              <a:t>10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023360" y="5001768"/>
            <a:ext cx="0" cy="73152"/>
          </a:xfrm>
          <a:prstGeom prst="line">
            <a:avLst/>
          </a:prstGeom>
          <a:ln w="571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886200" y="5120640"/>
            <a:ext cx="2926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20" b="0" i="0" u="none">
                <a:solidFill>
                  <a:srgbClr val="86909A"/>
                </a:solidFill>
                <a:latin typeface="Aptos"/>
              </a:rPr>
              <a:t>20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992624" y="5001768"/>
            <a:ext cx="0" cy="73152"/>
          </a:xfrm>
          <a:prstGeom prst="line">
            <a:avLst/>
          </a:prstGeom>
          <a:ln w="571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855464" y="5120640"/>
            <a:ext cx="2926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20" b="0" i="0" u="none">
                <a:solidFill>
                  <a:srgbClr val="86909A"/>
                </a:solidFill>
                <a:latin typeface="Aptos"/>
              </a:rPr>
              <a:t>30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5468112"/>
            <a:ext cx="46817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 i="0" u="none">
                <a:solidFill>
                  <a:srgbClr val="65707B"/>
                </a:solidFill>
                <a:latin typeface="Aptos"/>
              </a:rPr>
              <a:t>2026 marketplace participation; footprint breadth is only a rough scale proxy.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44768" y="1792224"/>
            <a:ext cx="5349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1" i="0" u="none">
                <a:solidFill>
                  <a:srgbClr val="32587D"/>
                </a:solidFill>
                <a:latin typeface="Aptos"/>
              </a:rPr>
              <a:t>2027 MARKET SETUP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144768" y="2084831"/>
            <a:ext cx="5422392" cy="0"/>
          </a:xfrm>
          <a:prstGeom prst="line">
            <a:avLst/>
          </a:prstGeom>
          <a:ln w="10160">
            <a:solidFill>
              <a:srgbClr val="1B2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144768" y="2313432"/>
            <a:ext cx="15361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B2F44"/>
                </a:solidFill>
                <a:latin typeface="Aptos Display"/>
              </a:rPr>
              <a:t>11 exits / 6 entries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08975" y="2304288"/>
            <a:ext cx="3721608" cy="43891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890" b="0" i="0" u="none">
                <a:solidFill>
                  <a:srgbClr val="272F38"/>
                </a:solidFill>
                <a:latin typeface="Aptos"/>
              </a:rPr>
              <a:t>KFF tracker for 2027; Cigna is exiting ACA in 11 states.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144768" y="2889503"/>
            <a:ext cx="5422392" cy="0"/>
          </a:xfrm>
          <a:prstGeom prst="line">
            <a:avLst/>
          </a:prstGeom>
          <a:ln w="6350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144768" y="3118103"/>
            <a:ext cx="15361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B2F44"/>
                </a:solidFill>
                <a:latin typeface="Aptos Display"/>
              </a:rPr>
              <a:t>~19m → ~23m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08975" y="3108960"/>
            <a:ext cx="3721608" cy="43891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890" b="0" i="0" u="none">
                <a:solidFill>
                  <a:srgbClr val="272F38"/>
                </a:solidFill>
                <a:latin typeface="Aptos"/>
              </a:rPr>
              <a:t>Oscar’s estimate of ACA market lives, 2026 to 2029; management view.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144768" y="3694176"/>
            <a:ext cx="5422392" cy="0"/>
          </a:xfrm>
          <a:prstGeom prst="line">
            <a:avLst/>
          </a:prstGeom>
          <a:ln w="6350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144768" y="3922776"/>
            <a:ext cx="15361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B2F44"/>
                </a:solidFill>
                <a:latin typeface="Aptos Display"/>
              </a:rPr>
              <a:t>&gt;18% share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08975" y="3913632"/>
            <a:ext cx="3721608" cy="43891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890" b="0" i="0" u="none">
                <a:solidFill>
                  <a:srgbClr val="272F38"/>
                </a:solidFill>
                <a:latin typeface="Aptos"/>
              </a:rPr>
              <a:t>Oscar’s stated 2029 national ACA share target; not an achieved share.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144768" y="4498848"/>
            <a:ext cx="5422392" cy="0"/>
          </a:xfrm>
          <a:prstGeom prst="line">
            <a:avLst/>
          </a:prstGeom>
          <a:ln w="6350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6144768" y="5029200"/>
            <a:ext cx="5422392" cy="658368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27648" y="5175504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1" i="0" u="none">
                <a:solidFill>
                  <a:srgbClr val="977439"/>
                </a:solidFill>
                <a:latin typeface="Aptos"/>
              </a:rPr>
              <a:t>INTERPRETATION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35240" y="5129784"/>
            <a:ext cx="3749039" cy="4114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860" b="0" i="0" u="none">
                <a:solidFill>
                  <a:srgbClr val="272F38"/>
                </a:solidFill>
                <a:latin typeface="Aptos"/>
              </a:rPr>
              <a:t>Exits can transfer members, but also signal poor market economics. Rate increases may aid pricing adequacy while worsening affordability and retention.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3776" y="6245352"/>
            <a:ext cx="11137392" cy="1554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700" b="0" i="0" u="none">
                <a:solidFill>
                  <a:srgbClr val="86909A"/>
                </a:solidFill>
                <a:latin typeface="Aptos"/>
              </a:rPr>
              <a:t>Sources: KFF 2026 Marketplace participation and 2027 exit tracker; Oscar Investor Day. The 2026–29 market-size figures are management estimates.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82880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0" b="1" i="0" u="none">
                <a:solidFill>
                  <a:srgbClr val="32587D"/>
                </a:solidFill>
                <a:latin typeface="Aptos"/>
              </a:rPr>
              <a:t>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182880"/>
            <a:ext cx="2057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10" b="1" i="0" u="none">
                <a:solidFill>
                  <a:srgbClr val="65707B"/>
                </a:solidFill>
                <a:latin typeface="Aptos"/>
              </a:rPr>
              <a:t>12 OCTOBER 2026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75488" y="438912"/>
            <a:ext cx="11228832" cy="0"/>
          </a:xfrm>
          <a:prstGeom prst="line">
            <a:avLst/>
          </a:prstGeom>
          <a:ln w="12700">
            <a:solidFill>
              <a:srgbClr val="1B2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75488" y="6492240"/>
            <a:ext cx="11228832" cy="0"/>
          </a:xfrm>
          <a:prstGeom prst="line">
            <a:avLst/>
          </a:prstGeom>
          <a:ln w="7620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75488" y="6556248"/>
            <a:ext cx="80467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 i="0" u="none">
                <a:solidFill>
                  <a:srgbClr val="86909A"/>
                </a:solidFill>
                <a:latin typeface="Aptos"/>
              </a:rPr>
              <a:t>Oscar Health (OSCR)  |  Public-information analysis  |  12 Oct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547104"/>
            <a:ext cx="62179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40" b="1" i="0" u="none">
                <a:solidFill>
                  <a:srgbClr val="86909A"/>
                </a:solidFill>
                <a:latin typeface="Aptos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630936"/>
            <a:ext cx="1120140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2230" b="1" i="0" u="none">
                <a:solidFill>
                  <a:srgbClr val="1B2F44"/>
                </a:solidFill>
                <a:latin typeface="Aptos Display"/>
              </a:rPr>
              <a:t>The next catalysts are close-dated and measurable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" y="1069848"/>
            <a:ext cx="1110996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040" b="0" i="0" u="none">
                <a:solidFill>
                  <a:srgbClr val="65707B"/>
                </a:solidFill>
                <a:latin typeface="Aptos"/>
              </a:rPr>
              <a:t>Focus on underlying claims and effectuated membership rather than plan selections or product announcements.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600200"/>
            <a:ext cx="1517904" cy="329184"/>
          </a:xfrm>
          <a:prstGeom prst="rect">
            <a:avLst/>
          </a:prstGeom>
          <a:solidFill>
            <a:srgbClr val="1B2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" y="1613916"/>
            <a:ext cx="1353312" cy="306323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780" b="1" i="0" u="none">
                <a:solidFill>
                  <a:srgbClr val="FFFFFF"/>
                </a:solidFill>
                <a:latin typeface="Aptos"/>
              </a:rPr>
              <a:t>WHEN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66543" y="1600200"/>
            <a:ext cx="2048256" cy="329184"/>
          </a:xfrm>
          <a:prstGeom prst="rect">
            <a:avLst/>
          </a:prstGeom>
          <a:solidFill>
            <a:srgbClr val="1B2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48839" y="1613916"/>
            <a:ext cx="1883664" cy="306323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780" b="1" i="0" u="none">
                <a:solidFill>
                  <a:srgbClr val="FFFFFF"/>
                </a:solidFill>
                <a:latin typeface="Aptos"/>
              </a:rPr>
              <a:t>EVENT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0" y="1600200"/>
            <a:ext cx="3776472" cy="329184"/>
          </a:xfrm>
          <a:prstGeom prst="rect">
            <a:avLst/>
          </a:prstGeom>
          <a:solidFill>
            <a:srgbClr val="1B2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97096" y="1613916"/>
            <a:ext cx="3611879" cy="306323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780" b="1" i="0" u="none">
                <a:solidFill>
                  <a:srgbClr val="FFFFFF"/>
                </a:solidFill>
                <a:latin typeface="Aptos"/>
              </a:rPr>
              <a:t>BULL CONFIRMATION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91271" y="1600200"/>
            <a:ext cx="3813048" cy="329184"/>
          </a:xfrm>
          <a:prstGeom prst="rect">
            <a:avLst/>
          </a:prstGeom>
          <a:solidFill>
            <a:srgbClr val="1B2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73567" y="1613916"/>
            <a:ext cx="3648456" cy="306323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780" b="1" i="0" u="none">
                <a:solidFill>
                  <a:srgbClr val="FFFFFF"/>
                </a:solidFill>
                <a:latin typeface="Aptos"/>
              </a:rPr>
              <a:t>WHAT WOULD DISAPPOINT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1929384"/>
            <a:ext cx="1517904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1943100"/>
            <a:ext cx="1335024" cy="854964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900" b="1" i="0" u="none">
                <a:solidFill>
                  <a:srgbClr val="32587D"/>
                </a:solidFill>
                <a:latin typeface="Aptos"/>
              </a:rPr>
              <a:t>5 Nov 2026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66543" y="1929384"/>
            <a:ext cx="2048256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57984" y="1943100"/>
            <a:ext cx="1865376" cy="854964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900" b="1" i="0" u="none">
                <a:solidFill>
                  <a:srgbClr val="1B2F44"/>
                </a:solidFill>
                <a:latin typeface="Aptos"/>
              </a:rPr>
              <a:t>Q3 results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0" y="1929384"/>
            <a:ext cx="3776472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6240" y="1943100"/>
            <a:ext cx="3593591" cy="854964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880" b="0" i="0" u="none">
                <a:solidFill>
                  <a:srgbClr val="272F38"/>
                </a:solidFill>
                <a:latin typeface="Aptos"/>
              </a:rPr>
              <a:t>Underlying MLR near guidance; no adverse risk-adjustment surprise; FY26 outlook maintained.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91271" y="1929384"/>
            <a:ext cx="381304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82711" y="1943100"/>
            <a:ext cx="3630168" cy="854964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880" b="0" i="0" u="none">
                <a:solidFill>
                  <a:srgbClr val="272F38"/>
                </a:solidFill>
                <a:latin typeface="Aptos"/>
              </a:rPr>
              <a:t>Reported MLR relies on further favorable development; guidance cut.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48640" y="2807208"/>
            <a:ext cx="11155679" cy="0"/>
          </a:xfrm>
          <a:prstGeom prst="line">
            <a:avLst/>
          </a:prstGeom>
          <a:ln w="698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548640" y="2807208"/>
            <a:ext cx="1517904" cy="877824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2820924"/>
            <a:ext cx="1335024" cy="854964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900" b="1" i="0" u="none">
                <a:solidFill>
                  <a:srgbClr val="32587D"/>
                </a:solidFill>
                <a:latin typeface="Aptos"/>
              </a:rPr>
              <a:t>1 Nov 2026–
15 Jan 2027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066543" y="2807208"/>
            <a:ext cx="2048256" cy="877824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57984" y="2820924"/>
            <a:ext cx="1865376" cy="854964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900" b="1" i="0" u="none">
                <a:solidFill>
                  <a:srgbClr val="1B2F44"/>
                </a:solidFill>
                <a:latin typeface="Aptos"/>
              </a:rPr>
              <a:t>2027 Open Enrollment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0" y="2807208"/>
            <a:ext cx="3776472" cy="877824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06240" y="2820924"/>
            <a:ext cx="3593591" cy="854964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880" b="0" i="0" u="none">
                <a:solidFill>
                  <a:srgbClr val="272F38"/>
                </a:solidFill>
                <a:latin typeface="Aptos"/>
              </a:rPr>
              <a:t>Paid/effectuated member retention; mix remains profitable after rate changes.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91271" y="2807208"/>
            <a:ext cx="3813048" cy="877824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82711" y="2820924"/>
            <a:ext cx="3630168" cy="854964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880" b="0" i="0" u="none">
                <a:solidFill>
                  <a:srgbClr val="272F38"/>
                </a:solidFill>
                <a:latin typeface="Aptos"/>
              </a:rPr>
              <a:t>Selections fail to effectuate; churn or risk mix worsens.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48640" y="3685031"/>
            <a:ext cx="11155679" cy="0"/>
          </a:xfrm>
          <a:prstGeom prst="line">
            <a:avLst/>
          </a:prstGeom>
          <a:ln w="698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548640" y="3685031"/>
            <a:ext cx="1517904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3698747"/>
            <a:ext cx="1335024" cy="854964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900" b="1" i="0" u="none">
                <a:solidFill>
                  <a:srgbClr val="32587D"/>
                </a:solidFill>
                <a:latin typeface="Aptos"/>
              </a:rPr>
              <a:t>FY26 close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66543" y="3685031"/>
            <a:ext cx="2048256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157984" y="3698747"/>
            <a:ext cx="1865376" cy="854964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900" b="1" i="0" u="none">
                <a:solidFill>
                  <a:srgbClr val="1B2F44"/>
                </a:solidFill>
                <a:latin typeface="Aptos"/>
              </a:rPr>
              <a:t>Full-year results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0" y="3685031"/>
            <a:ext cx="3776472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06240" y="3698747"/>
            <a:ext cx="3593591" cy="854964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880" b="0" i="0" u="none">
                <a:solidFill>
                  <a:srgbClr val="272F38"/>
                </a:solidFill>
                <a:latin typeface="Aptos"/>
              </a:rPr>
              <a:t>Operating earnings within $600–$800m outlook; H2 seasonality behaves as expected.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891271" y="3685031"/>
            <a:ext cx="381304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82711" y="3698747"/>
            <a:ext cx="3630168" cy="854964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880" b="0" i="0" u="none">
                <a:solidFill>
                  <a:srgbClr val="272F38"/>
                </a:solidFill>
                <a:latin typeface="Aptos"/>
              </a:rPr>
              <a:t>Shortfall vs. guide or H2 loss materially worse than implied.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48640" y="4562855"/>
            <a:ext cx="11155679" cy="0"/>
          </a:xfrm>
          <a:prstGeom prst="line">
            <a:avLst/>
          </a:prstGeom>
          <a:ln w="698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548640" y="4562856"/>
            <a:ext cx="1517904" cy="877824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4576572"/>
            <a:ext cx="1335024" cy="854964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900" b="1" i="0" u="none">
                <a:solidFill>
                  <a:srgbClr val="32587D"/>
                </a:solidFill>
                <a:latin typeface="Aptos"/>
              </a:rPr>
              <a:t>2027 plan year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066543" y="4562856"/>
            <a:ext cx="2048256" cy="877824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57984" y="4576572"/>
            <a:ext cx="1865376" cy="854964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900" b="1" i="0" u="none">
                <a:solidFill>
                  <a:srgbClr val="1B2F44"/>
                </a:solidFill>
                <a:latin typeface="Aptos"/>
              </a:rPr>
              <a:t>CHOICE / Lucie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14800" y="4562856"/>
            <a:ext cx="3776472" cy="877824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06240" y="4576572"/>
            <a:ext cx="3593591" cy="854964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880" b="0" i="0" u="none">
                <a:solidFill>
                  <a:srgbClr val="272F38"/>
                </a:solidFill>
                <a:latin typeface="Aptos"/>
              </a:rPr>
              <a:t>Active brokers, converted policies and employer/member retention disclosed.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891271" y="4562856"/>
            <a:ext cx="3813048" cy="877824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982711" y="4576572"/>
            <a:ext cx="3630168" cy="854964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880" b="0" i="0" u="none">
                <a:solidFill>
                  <a:srgbClr val="272F38"/>
                </a:solidFill>
                <a:latin typeface="Aptos"/>
              </a:rPr>
              <a:t>Announcements do not convert to paid policies or monetized revenue.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548640" y="5440680"/>
            <a:ext cx="11155679" cy="0"/>
          </a:xfrm>
          <a:prstGeom prst="line">
            <a:avLst/>
          </a:prstGeom>
          <a:ln w="698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548640" y="5541264"/>
            <a:ext cx="11155680" cy="438912"/>
          </a:xfrm>
          <a:prstGeom prst="rect">
            <a:avLst/>
          </a:prstGeom>
          <a:solidFill>
            <a:srgbClr val="EB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2376" y="5678424"/>
            <a:ext cx="130759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1" i="0" u="none">
                <a:solidFill>
                  <a:srgbClr val="32587D"/>
                </a:solidFill>
                <a:latin typeface="Aptos"/>
              </a:rPr>
              <a:t>MONITOR EACH PRINT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94560" y="5632704"/>
            <a:ext cx="923544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830" b="1" i="0" u="none">
                <a:solidFill>
                  <a:srgbClr val="1B2F44"/>
                </a:solidFill>
                <a:latin typeface="Aptos"/>
              </a:rPr>
              <a:t>MLR ex-PPD  |  net risk-adjustment payable / premium  |  paid member count  |  FY26 operating earnings guide  |  CHOICE / Lucie conversion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93776" y="6245352"/>
            <a:ext cx="11137392" cy="1554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700" b="0" i="0" u="none">
                <a:solidFill>
                  <a:srgbClr val="86909A"/>
                </a:solidFill>
                <a:latin typeface="Aptos"/>
              </a:rPr>
              <a:t>Sources: Oscar Oct. 12 Q3 earnings notice; CMS / HealthCare.gov 2027 OEP dates; Oscar Sep. 16 Investor Day targets.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82880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0" b="1" i="0" u="none">
                <a:solidFill>
                  <a:srgbClr val="32587D"/>
                </a:solidFill>
                <a:latin typeface="Aptos"/>
              </a:rPr>
              <a:t>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182880"/>
            <a:ext cx="2057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10" b="1" i="0" u="none">
                <a:solidFill>
                  <a:srgbClr val="65707B"/>
                </a:solidFill>
                <a:latin typeface="Aptos"/>
              </a:rPr>
              <a:t>12 OCTOBER 2026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75488" y="438912"/>
            <a:ext cx="11228832" cy="0"/>
          </a:xfrm>
          <a:prstGeom prst="line">
            <a:avLst/>
          </a:prstGeom>
          <a:ln w="12700">
            <a:solidFill>
              <a:srgbClr val="1B2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75488" y="6492240"/>
            <a:ext cx="11228832" cy="0"/>
          </a:xfrm>
          <a:prstGeom prst="line">
            <a:avLst/>
          </a:prstGeom>
          <a:ln w="7620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75488" y="6556248"/>
            <a:ext cx="80467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 i="0" u="none">
                <a:solidFill>
                  <a:srgbClr val="86909A"/>
                </a:solidFill>
                <a:latin typeface="Aptos"/>
              </a:rPr>
              <a:t>Oscar Health (OSCR)  |  Public-information analysis  |  12 Oct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547104"/>
            <a:ext cx="62179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40" b="1" i="0" u="none">
                <a:solidFill>
                  <a:srgbClr val="86909A"/>
                </a:solidFill>
                <a:latin typeface="Aptos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630936"/>
            <a:ext cx="1120140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2230" b="1" i="0" u="none">
                <a:solidFill>
                  <a:srgbClr val="1B2F44"/>
                </a:solidFill>
                <a:latin typeface="Aptos Display"/>
              </a:rPr>
              <a:t>At $33.36, the long works if the earnings target is real—not because OSCR is software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" y="1069848"/>
            <a:ext cx="1110996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040" b="0" i="0" u="none">
                <a:solidFill>
                  <a:srgbClr val="65707B"/>
                </a:solidFill>
                <a:latin typeface="Aptos"/>
              </a:rPr>
              <a:t>Reference market data as of 12 October 2026; management objectives and vendor revenue estimates are not guaranteed outcomes.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554480"/>
            <a:ext cx="4828032" cy="4425696"/>
          </a:xfrm>
          <a:prstGeom prst="rect">
            <a:avLst/>
          </a:prstGeom>
          <a:solidFill>
            <a:srgbClr val="FFFFFF"/>
          </a:solidFill>
          <a:ln w="762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1773936"/>
            <a:ext cx="4343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1" i="0" u="none">
                <a:solidFill>
                  <a:srgbClr val="32587D"/>
                </a:solidFill>
                <a:latin typeface="Aptos"/>
              </a:rPr>
              <a:t>RELATIVE VALUATION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093976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60" b="1" i="0" u="none">
                <a:solidFill>
                  <a:srgbClr val="65707B"/>
                </a:solidFill>
                <a:latin typeface="Aptos"/>
              </a:rPr>
              <a:t>Ticker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7632" y="2093976"/>
            <a:ext cx="8412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60" b="1" i="0" u="none">
                <a:solidFill>
                  <a:srgbClr val="65707B"/>
                </a:solidFill>
                <a:latin typeface="Aptos"/>
              </a:rPr>
              <a:t>P/S TTM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2093976"/>
            <a:ext cx="9326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60" b="1" i="0" u="none">
                <a:solidFill>
                  <a:srgbClr val="65707B"/>
                </a:solidFill>
                <a:latin typeface="Aptos"/>
              </a:rPr>
              <a:t>P/S FY27E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4448" y="2093976"/>
            <a:ext cx="10241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60" b="1" i="0" u="none">
                <a:solidFill>
                  <a:srgbClr val="65707B"/>
                </a:solidFill>
                <a:latin typeface="Aptos"/>
              </a:rPr>
              <a:t>Q2 rev. y/y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2093976"/>
            <a:ext cx="6675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60" b="1" i="0" u="none">
                <a:solidFill>
                  <a:srgbClr val="65707B"/>
                </a:solidFill>
                <a:latin typeface="Aptos"/>
              </a:rPr>
              <a:t/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8096" y="2331720"/>
            <a:ext cx="4379976" cy="0"/>
          </a:xfrm>
          <a:prstGeom prst="line">
            <a:avLst/>
          </a:prstGeom>
          <a:ln w="8255">
            <a:solidFill>
              <a:srgbClr val="1B2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731520" y="2414016"/>
            <a:ext cx="4407408" cy="320040"/>
          </a:xfrm>
          <a:prstGeom prst="rect">
            <a:avLst/>
          </a:prstGeom>
          <a:solidFill>
            <a:srgbClr val="EB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2473452"/>
            <a:ext cx="768096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1" i="0" u="none">
                <a:solidFill>
                  <a:srgbClr val="32587D"/>
                </a:solidFill>
                <a:latin typeface="Aptos"/>
              </a:rPr>
              <a:t>OSCR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27632" y="2473452"/>
            <a:ext cx="841248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80" b="1" i="0" u="none">
                <a:solidFill>
                  <a:srgbClr val="32587D"/>
                </a:solidFill>
                <a:latin typeface="Aptos"/>
              </a:rPr>
              <a:t>0.67×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2473452"/>
            <a:ext cx="932688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80" b="1" i="0" u="none">
                <a:solidFill>
                  <a:srgbClr val="32587D"/>
                </a:solidFill>
                <a:latin typeface="Aptos"/>
              </a:rPr>
              <a:t>0.50×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84448" y="2473452"/>
            <a:ext cx="1024128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80" b="1" i="0" u="none">
                <a:solidFill>
                  <a:srgbClr val="32587D"/>
                </a:solidFill>
                <a:latin typeface="Aptos"/>
              </a:rPr>
              <a:t>70.4%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8096" y="2752344"/>
            <a:ext cx="4379976" cy="0"/>
          </a:xfrm>
          <a:prstGeom prst="line">
            <a:avLst/>
          </a:prstGeom>
          <a:ln w="571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68096" y="2839212"/>
            <a:ext cx="768096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1" i="0" u="none">
                <a:solidFill>
                  <a:srgbClr val="272F38"/>
                </a:solidFill>
                <a:latin typeface="Aptos"/>
              </a:rPr>
              <a:t>CNC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27632" y="2839212"/>
            <a:ext cx="841248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80" b="0" i="0" u="none">
                <a:solidFill>
                  <a:srgbClr val="272F38"/>
                </a:solidFill>
                <a:latin typeface="Aptos"/>
              </a:rPr>
              <a:t>0.16×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0" y="2839212"/>
            <a:ext cx="932688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80" b="0" i="0" u="none">
                <a:solidFill>
                  <a:srgbClr val="272F38"/>
                </a:solidFill>
                <a:latin typeface="Aptos"/>
              </a:rPr>
              <a:t>0.17×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84448" y="2839212"/>
            <a:ext cx="1024128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80" b="0" i="0" u="none">
                <a:solidFill>
                  <a:srgbClr val="272F38"/>
                </a:solidFill>
                <a:latin typeface="Aptos"/>
              </a:rPr>
              <a:t>9.9%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68096" y="3118103"/>
            <a:ext cx="4379976" cy="0"/>
          </a:xfrm>
          <a:prstGeom prst="line">
            <a:avLst/>
          </a:prstGeom>
          <a:ln w="571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68096" y="3204972"/>
            <a:ext cx="768096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1" i="0" u="none">
                <a:solidFill>
                  <a:srgbClr val="272F38"/>
                </a:solidFill>
                <a:latin typeface="Aptos"/>
              </a:rPr>
              <a:t>UNH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27632" y="3204972"/>
            <a:ext cx="841248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80" b="0" i="0" u="none">
                <a:solidFill>
                  <a:srgbClr val="272F38"/>
                </a:solidFill>
                <a:latin typeface="Aptos"/>
              </a:rPr>
              <a:t>0.75×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60320" y="3204972"/>
            <a:ext cx="932688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80" b="0" i="0" u="none">
                <a:solidFill>
                  <a:srgbClr val="272F38"/>
                </a:solidFill>
                <a:latin typeface="Aptos"/>
              </a:rPr>
              <a:t>0.73×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84448" y="3204972"/>
            <a:ext cx="1024128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80" b="0" i="0" u="none">
                <a:solidFill>
                  <a:srgbClr val="272F38"/>
                </a:solidFill>
                <a:latin typeface="Aptos"/>
              </a:rPr>
              <a:t>0.4%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68096" y="3483863"/>
            <a:ext cx="4379976" cy="0"/>
          </a:xfrm>
          <a:prstGeom prst="line">
            <a:avLst/>
          </a:prstGeom>
          <a:ln w="571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768096" y="3685032"/>
            <a:ext cx="4343400" cy="4754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840" b="0" i="0" u="none">
                <a:solidFill>
                  <a:srgbClr val="272F38"/>
                </a:solidFill>
                <a:latin typeface="Aptos"/>
              </a:rPr>
              <a:t>OSCR trades between Centene and UHG on trailing sales, with much faster Q2 growth. P/S uses market cap ÷ revenue; insurance mix makes peer comparisons imperfect.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68096" y="4297680"/>
            <a:ext cx="4379976" cy="0"/>
          </a:xfrm>
          <a:prstGeom prst="line">
            <a:avLst/>
          </a:prstGeom>
          <a:ln w="8255">
            <a:solidFill>
              <a:srgbClr val="1B2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68096" y="4489704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1B2F44"/>
                </a:solidFill>
                <a:latin typeface="Aptos Display"/>
              </a:rPr>
              <a:t>14.8×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28800" y="4498848"/>
            <a:ext cx="3310128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860" b="0" i="0" u="none">
                <a:solidFill>
                  <a:srgbClr val="272F38"/>
                </a:solidFill>
                <a:latin typeface="Aptos"/>
              </a:rPr>
              <a:t>Current price / management’s &gt;$2.25 FY27 EPS threshold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8096" y="4956048"/>
            <a:ext cx="43342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1" i="0" u="none">
                <a:solidFill>
                  <a:srgbClr val="32587D"/>
                </a:solidFill>
                <a:latin typeface="Aptos"/>
              </a:rPr>
              <a:t>~8.3× current price / $4 2029 EPS goal (undiscounted)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8096" y="5358384"/>
            <a:ext cx="4334256" cy="3108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780" b="0" i="0" u="none">
                <a:solidFill>
                  <a:srgbClr val="86909A"/>
                </a:solidFill>
                <a:latin typeface="Aptos"/>
              </a:rPr>
              <a:t>FY27 P/S uses Yahoo analyst revenue estimate snapshot; potentially stale.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96128" y="1554480"/>
            <a:ext cx="6108192" cy="4425696"/>
          </a:xfrm>
          <a:prstGeom prst="rect">
            <a:avLst/>
          </a:prstGeom>
          <a:solidFill>
            <a:srgbClr val="F9FAFB"/>
          </a:solidFill>
          <a:ln w="762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833872" y="1773936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1" i="0" u="none">
                <a:solidFill>
                  <a:srgbClr val="32587D"/>
                </a:solidFill>
                <a:latin typeface="Aptos"/>
              </a:rPr>
              <a:t>2029 PER-SHARE VALUE SENSITIVITY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33872" y="2103120"/>
            <a:ext cx="155448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60" b="1" i="0" u="none">
                <a:solidFill>
                  <a:srgbClr val="65707B"/>
                </a:solidFill>
                <a:latin typeface="Aptos"/>
              </a:rPr>
              <a:t>EPS case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06640" y="2103120"/>
            <a:ext cx="12344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60" b="1" i="0" u="none">
                <a:solidFill>
                  <a:srgbClr val="65707B"/>
                </a:solidFill>
                <a:latin typeface="Aptos"/>
              </a:rPr>
              <a:t>EPS × P/E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77656" y="2103120"/>
            <a:ext cx="80467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60" b="1" i="0" u="none">
                <a:solidFill>
                  <a:srgbClr val="65707B"/>
                </a:solidFill>
                <a:latin typeface="Aptos"/>
              </a:rPr>
              <a:t>Terminal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55480" y="2103120"/>
            <a:ext cx="84124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60" b="1" i="0" u="none">
                <a:solidFill>
                  <a:srgbClr val="65707B"/>
                </a:solidFill>
                <a:latin typeface="Aptos"/>
              </a:rPr>
              <a:t>PV / sh.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24744" y="2103120"/>
            <a:ext cx="85953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60" b="1" i="0" u="none">
                <a:solidFill>
                  <a:srgbClr val="65707B"/>
                </a:solidFill>
                <a:latin typeface="Aptos"/>
              </a:rPr>
              <a:t>Return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833872" y="2340864"/>
            <a:ext cx="5614416" cy="0"/>
          </a:xfrm>
          <a:prstGeom prst="line">
            <a:avLst/>
          </a:prstGeom>
          <a:ln w="8255">
            <a:solidFill>
              <a:srgbClr val="1B2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852160" y="2519172"/>
            <a:ext cx="1444752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869" b="1" i="0" u="none">
                <a:solidFill>
                  <a:srgbClr val="A34D45"/>
                </a:solidFill>
                <a:latin typeface="Aptos"/>
              </a:rPr>
              <a:t>Bear / miss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60920" y="2519172"/>
            <a:ext cx="1207008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869" b="0" i="0" u="none">
                <a:solidFill>
                  <a:srgbClr val="272F38"/>
                </a:solidFill>
                <a:latin typeface="Aptos"/>
              </a:rPr>
              <a:t>$2.00 × 10×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6800" y="2519172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869" b="0" i="0" u="none">
                <a:solidFill>
                  <a:srgbClr val="272F38"/>
                </a:solidFill>
                <a:latin typeface="Aptos"/>
              </a:rPr>
              <a:t>$20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564624" y="2519172"/>
            <a:ext cx="804672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869" b="1" i="0" u="none">
                <a:solidFill>
                  <a:srgbClr val="A34D45"/>
                </a:solidFill>
                <a:latin typeface="Aptos"/>
              </a:rPr>
              <a:t>$14.7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33888" y="2519172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869" b="1" i="0" u="none">
                <a:solidFill>
                  <a:srgbClr val="A34D45"/>
                </a:solidFill>
                <a:latin typeface="Aptos"/>
              </a:rPr>
              <a:t>−56%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5833872" y="2834640"/>
            <a:ext cx="5614416" cy="0"/>
          </a:xfrm>
          <a:prstGeom prst="line">
            <a:avLst/>
          </a:prstGeom>
          <a:ln w="571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5852160" y="2958084"/>
            <a:ext cx="1444752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869" b="1" i="0" u="none">
                <a:solidFill>
                  <a:srgbClr val="65707B"/>
                </a:solidFill>
                <a:latin typeface="Aptos"/>
              </a:rPr>
              <a:t>Partial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60920" y="2958084"/>
            <a:ext cx="1207008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869" b="0" i="0" u="none">
                <a:solidFill>
                  <a:srgbClr val="272F38"/>
                </a:solidFill>
                <a:latin typeface="Aptos"/>
              </a:rPr>
              <a:t>$3.00 × 12×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86800" y="2958084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869" b="0" i="0" u="none">
                <a:solidFill>
                  <a:srgbClr val="272F38"/>
                </a:solidFill>
                <a:latin typeface="Aptos"/>
              </a:rPr>
              <a:t>$36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564624" y="2958084"/>
            <a:ext cx="804672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869" b="1" i="0" u="none">
                <a:solidFill>
                  <a:srgbClr val="65707B"/>
                </a:solidFill>
                <a:latin typeface="Aptos"/>
              </a:rPr>
              <a:t>$26.4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33888" y="2958084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869" b="1" i="0" u="none">
                <a:solidFill>
                  <a:srgbClr val="65707B"/>
                </a:solidFill>
                <a:latin typeface="Aptos"/>
              </a:rPr>
              <a:t>−21%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5833872" y="3273552"/>
            <a:ext cx="5614416" cy="0"/>
          </a:xfrm>
          <a:prstGeom prst="line">
            <a:avLst/>
          </a:prstGeom>
          <a:ln w="571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5797296" y="3332988"/>
            <a:ext cx="5669280" cy="365760"/>
          </a:xfrm>
          <a:prstGeom prst="rect">
            <a:avLst/>
          </a:prstGeom>
          <a:solidFill>
            <a:srgbClr val="EB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852160" y="3396996"/>
            <a:ext cx="1444752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869" b="1" i="0" u="none">
                <a:solidFill>
                  <a:srgbClr val="306F53"/>
                </a:solidFill>
                <a:latin typeface="Aptos"/>
              </a:rPr>
              <a:t>Management goal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60920" y="3396996"/>
            <a:ext cx="1207008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869" b="0" i="0" u="none">
                <a:solidFill>
                  <a:srgbClr val="272F38"/>
                </a:solidFill>
                <a:latin typeface="Aptos"/>
              </a:rPr>
              <a:t>$4.00 × 15×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686800" y="3396996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869" b="0" i="0" u="none">
                <a:solidFill>
                  <a:srgbClr val="272F38"/>
                </a:solidFill>
                <a:latin typeface="Aptos"/>
              </a:rPr>
              <a:t>$60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564624" y="3396996"/>
            <a:ext cx="804672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869" b="1" i="0" u="none">
                <a:solidFill>
                  <a:srgbClr val="306F53"/>
                </a:solidFill>
                <a:latin typeface="Aptos"/>
              </a:rPr>
              <a:t>$44.0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533888" y="3396996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869" b="1" i="0" u="none">
                <a:solidFill>
                  <a:srgbClr val="306F53"/>
                </a:solidFill>
                <a:latin typeface="Aptos"/>
              </a:rPr>
              <a:t>+32%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5833872" y="3712464"/>
            <a:ext cx="5614416" cy="0"/>
          </a:xfrm>
          <a:prstGeom prst="line">
            <a:avLst/>
          </a:prstGeom>
          <a:ln w="571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5852160" y="3835908"/>
            <a:ext cx="1444752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869" b="1" i="0" u="none">
                <a:solidFill>
                  <a:srgbClr val="977439"/>
                </a:solidFill>
                <a:latin typeface="Aptos"/>
              </a:rPr>
              <a:t>Stretch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60920" y="3835908"/>
            <a:ext cx="1207008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869" b="0" i="0" u="none">
                <a:solidFill>
                  <a:srgbClr val="272F38"/>
                </a:solidFill>
                <a:latin typeface="Aptos"/>
              </a:rPr>
              <a:t>$4.50 × 18×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686800" y="3835908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869" b="0" i="0" u="none">
                <a:solidFill>
                  <a:srgbClr val="272F38"/>
                </a:solidFill>
                <a:latin typeface="Aptos"/>
              </a:rPr>
              <a:t>$81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564624" y="3835908"/>
            <a:ext cx="804672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869" b="1" i="0" u="none">
                <a:solidFill>
                  <a:srgbClr val="977439"/>
                </a:solidFill>
                <a:latin typeface="Aptos"/>
              </a:rPr>
              <a:t>$59.4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533888" y="3835908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869" b="1" i="0" u="none">
                <a:solidFill>
                  <a:srgbClr val="977439"/>
                </a:solidFill>
                <a:latin typeface="Aptos"/>
              </a:rPr>
              <a:t>+78%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5833872" y="4151376"/>
            <a:ext cx="5614416" cy="0"/>
          </a:xfrm>
          <a:prstGeom prst="line">
            <a:avLst/>
          </a:prstGeom>
          <a:ln w="571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5833872" y="4352544"/>
            <a:ext cx="5614416" cy="0"/>
          </a:xfrm>
          <a:prstGeom prst="line">
            <a:avLst/>
          </a:prstGeom>
          <a:ln w="8255">
            <a:solidFill>
              <a:srgbClr val="1B2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5852160" y="4562856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30" b="1" i="0" u="none">
                <a:solidFill>
                  <a:srgbClr val="306F53"/>
                </a:solidFill>
                <a:latin typeface="Aptos"/>
              </a:rPr>
              <a:t>Base / management goal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900416" y="4489704"/>
            <a:ext cx="3401568" cy="4480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830" b="0" i="0" u="none">
                <a:solidFill>
                  <a:srgbClr val="272F38"/>
                </a:solidFill>
                <a:latin typeface="Aptos"/>
              </a:rPr>
              <a:t>$4 EPS × 15× = $60 in 2029. Discounted 3.25 years at 10% = ~$44 today; ~20% annualized return if achieved.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852160" y="5266944"/>
            <a:ext cx="5486400" cy="34747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780" b="0" i="0" u="none">
                <a:solidFill>
                  <a:srgbClr val="86909A"/>
                </a:solidFill>
                <a:latin typeface="Aptos"/>
              </a:rPr>
              <a:t>No probabilities assigned. Values are sensitivities, not price targets; EPS scenarios are diluted per-share outcomes.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93776" y="6245352"/>
            <a:ext cx="11137392" cy="1554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700" b="0" i="0" u="none">
                <a:solidFill>
                  <a:srgbClr val="86909A"/>
                </a:solidFill>
                <a:latin typeface="Aptos"/>
              </a:rPr>
              <a:t>Sources: Yahoo quote snapshot; Macrotrends TTM revenue; Oscar Investor Day goals. FY27 analyst revenue estimate may be stale; see source notes.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82880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0" b="1" i="0" u="none">
                <a:solidFill>
                  <a:srgbClr val="32587D"/>
                </a:solidFill>
                <a:latin typeface="Aptos"/>
              </a:rPr>
              <a:t>RISK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182880"/>
            <a:ext cx="2057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10" b="1" i="0" u="none">
                <a:solidFill>
                  <a:srgbClr val="65707B"/>
                </a:solidFill>
                <a:latin typeface="Aptos"/>
              </a:rPr>
              <a:t>12 OCTOBER 2026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75488" y="438912"/>
            <a:ext cx="11228832" cy="0"/>
          </a:xfrm>
          <a:prstGeom prst="line">
            <a:avLst/>
          </a:prstGeom>
          <a:ln w="12700">
            <a:solidFill>
              <a:srgbClr val="1B2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75488" y="6492240"/>
            <a:ext cx="11228832" cy="0"/>
          </a:xfrm>
          <a:prstGeom prst="line">
            <a:avLst/>
          </a:prstGeom>
          <a:ln w="7620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75488" y="6556248"/>
            <a:ext cx="80467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 i="0" u="none">
                <a:solidFill>
                  <a:srgbClr val="86909A"/>
                </a:solidFill>
                <a:latin typeface="Aptos"/>
              </a:rPr>
              <a:t>Oscar Health (OSCR)  |  Public-information analysis  |  12 Oct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547104"/>
            <a:ext cx="62179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40" b="1" i="0" u="none">
                <a:solidFill>
                  <a:srgbClr val="86909A"/>
                </a:solidFill>
                <a:latin typeface="Aptos"/>
              </a:rPr>
              <a:t>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630936"/>
            <a:ext cx="1120140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2230" b="1" i="0" u="none">
                <a:solidFill>
                  <a:srgbClr val="1B2F44"/>
                </a:solidFill>
                <a:latin typeface="Aptos Display"/>
              </a:rPr>
              <a:t>Three risks define the long: accounting estimates, ACA concentration and competition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" y="1069848"/>
            <a:ext cx="1110996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040" b="0" i="0" u="none">
                <a:solidFill>
                  <a:srgbClr val="65707B"/>
                </a:solidFill>
                <a:latin typeface="Aptos"/>
              </a:rPr>
              <a:t>The mitigants are real, but none eliminates the need for reported proof.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581912"/>
            <a:ext cx="1975104" cy="347472"/>
          </a:xfrm>
          <a:prstGeom prst="rect">
            <a:avLst/>
          </a:prstGeom>
          <a:solidFill>
            <a:srgbClr val="1B2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" y="1595628"/>
            <a:ext cx="1810512" cy="32461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770" b="1" i="0" u="none">
                <a:solidFill>
                  <a:srgbClr val="FFFFFF"/>
                </a:solidFill>
                <a:latin typeface="Aptos"/>
              </a:rPr>
              <a:t>RISK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23744" y="1581912"/>
            <a:ext cx="3813048" cy="347472"/>
          </a:xfrm>
          <a:prstGeom prst="rect">
            <a:avLst/>
          </a:prstGeom>
          <a:solidFill>
            <a:srgbClr val="1B2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06040" y="1595628"/>
            <a:ext cx="3648456" cy="32461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770" b="1" i="0" u="none">
                <a:solidFill>
                  <a:srgbClr val="FFFFFF"/>
                </a:solidFill>
                <a:latin typeface="Aptos"/>
              </a:rPr>
              <a:t>BEAR CASE / EVIDENCE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36792" y="1581912"/>
            <a:ext cx="2816352" cy="347472"/>
          </a:xfrm>
          <a:prstGeom prst="rect">
            <a:avLst/>
          </a:prstGeom>
          <a:solidFill>
            <a:srgbClr val="1B2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595628"/>
            <a:ext cx="2651760" cy="32461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770" b="1" i="0" u="none">
                <a:solidFill>
                  <a:srgbClr val="FFFFFF"/>
                </a:solidFill>
                <a:latin typeface="Aptos"/>
              </a:rPr>
              <a:t>LONG REBUTTAL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53144" y="1581912"/>
            <a:ext cx="2551176" cy="347472"/>
          </a:xfrm>
          <a:prstGeom prst="rect">
            <a:avLst/>
          </a:prstGeom>
          <a:solidFill>
            <a:srgbClr val="1B2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1595628"/>
            <a:ext cx="2386584" cy="32461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770" b="1" i="0" u="none">
                <a:solidFill>
                  <a:srgbClr val="FFFFFF"/>
                </a:solidFill>
                <a:latin typeface="Aptos"/>
              </a:rPr>
              <a:t>WHAT WOULD DISCONFIRM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1929384"/>
            <a:ext cx="1975104" cy="11338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1943100"/>
            <a:ext cx="1792224" cy="1110996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900" b="1" i="0" u="none">
                <a:solidFill>
                  <a:srgbClr val="1B2F44"/>
                </a:solidFill>
                <a:latin typeface="Aptos"/>
              </a:rPr>
              <a:t>1. Reserve / risk-adjustment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23744" y="1929384"/>
            <a:ext cx="3813048" cy="11338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15184" y="1943100"/>
            <a:ext cx="3630168" cy="1110996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850" b="0" i="0" u="none">
                <a:solidFill>
                  <a:srgbClr val="272F38"/>
                </a:solidFill>
                <a:latin typeface="Aptos"/>
              </a:rPr>
              <a:t>$4.85bn net risk-adjustment payable at Jun-26; H1 had $232m favorable prior-period development. Q2’s $164m was ~42% of operating income.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36792" y="1929384"/>
            <a:ext cx="2816352" cy="11338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8231" y="1943100"/>
            <a:ext cx="2633472" cy="1110996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850" b="0" i="0" u="none">
                <a:solidFill>
                  <a:srgbClr val="272F38"/>
                </a:solidFill>
                <a:latin typeface="Aptos"/>
              </a:rPr>
              <a:t>Management’s ex-development Q2 MLR was ~82%; pricing and cost actions may have reset the base.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53144" y="1929384"/>
            <a:ext cx="2551176" cy="11338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44584" y="1943100"/>
            <a:ext cx="2368296" cy="1110996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850" b="0" i="0" u="none">
                <a:solidFill>
                  <a:srgbClr val="272F38"/>
                </a:solidFill>
                <a:latin typeface="Aptos"/>
              </a:rPr>
              <a:t>Payable rises faster than premium; underlying MLR remains above the 81–82% FY26 range.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48640" y="3063239"/>
            <a:ext cx="11155679" cy="0"/>
          </a:xfrm>
          <a:prstGeom prst="line">
            <a:avLst/>
          </a:prstGeom>
          <a:ln w="698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548640" y="3063239"/>
            <a:ext cx="1975104" cy="1133856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076956"/>
            <a:ext cx="1792224" cy="1110996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900" b="1" i="0" u="none">
                <a:solidFill>
                  <a:srgbClr val="1B2F44"/>
                </a:solidFill>
                <a:latin typeface="Aptos"/>
              </a:rPr>
              <a:t>2. ACA / subsidy concentration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23744" y="3063239"/>
            <a:ext cx="3813048" cy="1133856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15184" y="3076956"/>
            <a:ext cx="3630168" cy="1110996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850" b="0" i="0" u="none">
                <a:solidFill>
                  <a:srgbClr val="272F38"/>
                </a:solidFill>
                <a:latin typeface="Aptos"/>
              </a:rPr>
              <a:t>FY25 revenue was almost entirely premium revenue; ~$13.08bn of $14.03bn direct premiums came from CMS, largely through tax-credit payments. Members fell ~211k sequentially in Q2.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36792" y="3063239"/>
            <a:ext cx="2816352" cy="1133856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28231" y="3076956"/>
            <a:ext cx="2633472" cy="1110996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850" b="0" i="0" u="none">
                <a:solidFill>
                  <a:srgbClr val="272F38"/>
                </a:solidFill>
                <a:latin typeface="Aptos"/>
              </a:rPr>
              <a:t>CHOICE / ICHRA and Lucie broaden distribution; ACA share may move to carriers with competitive rates.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53144" y="3063239"/>
            <a:ext cx="2551176" cy="1133856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44584" y="3076956"/>
            <a:ext cx="2368296" cy="1110996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850" b="0" i="0" u="none">
                <a:solidFill>
                  <a:srgbClr val="272F38"/>
                </a:solidFill>
                <a:latin typeface="Aptos"/>
              </a:rPr>
              <a:t>Affordability drives healthy-member churn; new channels fail to replace core-market attrition.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48640" y="4197096"/>
            <a:ext cx="11155679" cy="0"/>
          </a:xfrm>
          <a:prstGeom prst="line">
            <a:avLst/>
          </a:prstGeom>
          <a:ln w="698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548640" y="4197096"/>
            <a:ext cx="1975104" cy="11338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4210812"/>
            <a:ext cx="1792224" cy="1110996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900" b="1" i="0" u="none">
                <a:solidFill>
                  <a:srgbClr val="1B2F44"/>
                </a:solidFill>
                <a:latin typeface="Aptos"/>
              </a:rPr>
              <a:t>3. Competition / moat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523744" y="4197096"/>
            <a:ext cx="3813048" cy="11338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615184" y="4210812"/>
            <a:ext cx="3630168" cy="1110996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850" b="0" i="0" u="none">
                <a:solidFill>
                  <a:srgbClr val="272F38"/>
                </a:solidFill>
                <a:latin typeface="Aptos"/>
              </a:rPr>
              <a:t>Centene and UHG participate in more states; Oscar reported no issued or pending patents as of FY25. Narrow local networks can be a constraint.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36792" y="4197096"/>
            <a:ext cx="2816352" cy="11338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28231" y="4210812"/>
            <a:ext cx="2633472" cy="1110996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850" b="0" i="0" u="none">
                <a:solidFill>
                  <a:srgbClr val="272F38"/>
                </a:solidFill>
                <a:latin typeface="Aptos"/>
              </a:rPr>
              <a:t>Digital workflows, local plan design and member service may support lower costs and retention; moat is execution-based.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153144" y="4197096"/>
            <a:ext cx="2551176" cy="11338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44584" y="4210812"/>
            <a:ext cx="2368296" cy="1110996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850" b="0" i="0" u="none">
                <a:solidFill>
                  <a:srgbClr val="272F38"/>
                </a:solidFill>
                <a:latin typeface="Aptos"/>
              </a:rPr>
              <a:t>Renewals, medical-cost trend or SG&amp;A per member fail to improve versus scale competitors.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48640" y="5330952"/>
            <a:ext cx="11155679" cy="0"/>
          </a:xfrm>
          <a:prstGeom prst="line">
            <a:avLst/>
          </a:prstGeom>
          <a:ln w="698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548640" y="5468112"/>
            <a:ext cx="11155680" cy="512064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" y="5641848"/>
            <a:ext cx="1508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1" i="0" u="none">
                <a:solidFill>
                  <a:srgbClr val="977439"/>
                </a:solidFill>
                <a:latin typeface="Aptos"/>
              </a:rPr>
              <a:t>GUIDANCE CROSS-CHECK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404872" y="5568696"/>
            <a:ext cx="9006840" cy="29260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850" b="0" i="0" u="none">
                <a:solidFill>
                  <a:srgbClr val="272F38"/>
                </a:solidFill>
                <a:latin typeface="Aptos"/>
              </a:rPr>
              <a:t>H1 operating earnings $1.093bn vs. FY26 guidance $600–$800m implies H2 losses of $293–$493m. The $4 EPS thesis depends on a substantial, sustained recovery—not H1 annualization.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3776" y="6245352"/>
            <a:ext cx="11137392" cy="1554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700" b="0" i="0" u="none">
                <a:solidFill>
                  <a:srgbClr val="86909A"/>
                </a:solidFill>
                <a:latin typeface="Aptos"/>
              </a:rPr>
              <a:t>Sources: Oscar 2025 10-K, Q2 2026 10-Q / results release and Investor Day. Concentration and risk-adjustment figures are company-filed or company-reported.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82880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0" b="1" i="0" u="none">
                <a:solidFill>
                  <a:srgbClr val="32587D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182880"/>
            <a:ext cx="2057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10" b="1" i="0" u="none">
                <a:solidFill>
                  <a:srgbClr val="65707B"/>
                </a:solidFill>
                <a:latin typeface="Aptos"/>
              </a:rPr>
              <a:t>12 OCTOBER 2026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75488" y="438912"/>
            <a:ext cx="11228832" cy="0"/>
          </a:xfrm>
          <a:prstGeom prst="line">
            <a:avLst/>
          </a:prstGeom>
          <a:ln w="12700">
            <a:solidFill>
              <a:srgbClr val="1B2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75488" y="6492240"/>
            <a:ext cx="11228832" cy="0"/>
          </a:xfrm>
          <a:prstGeom prst="line">
            <a:avLst/>
          </a:prstGeom>
          <a:ln w="7620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75488" y="6556248"/>
            <a:ext cx="80467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 i="0" u="none">
                <a:solidFill>
                  <a:srgbClr val="86909A"/>
                </a:solidFill>
                <a:latin typeface="Aptos"/>
              </a:rPr>
              <a:t>Oscar Health (OSCR)  |  Public-information analysis  |  12 Oct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547104"/>
            <a:ext cx="62179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40" b="1" i="0" u="none">
                <a:solidFill>
                  <a:srgbClr val="86909A"/>
                </a:solidFill>
                <a:latin typeface="Aptos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630936"/>
            <a:ext cx="1120140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2230" b="1" i="0" u="none">
                <a:solidFill>
                  <a:srgbClr val="1B2F44"/>
                </a:solidFill>
                <a:latin typeface="Aptos Display"/>
              </a:rPr>
              <a:t>Positioning: starter long; add only after claims and renewal data confirm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" y="1069848"/>
            <a:ext cx="1110996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040" b="0" i="0" u="none">
                <a:solidFill>
                  <a:srgbClr val="65707B"/>
                </a:solidFill>
                <a:latin typeface="Aptos"/>
              </a:rPr>
              <a:t>The expected return is attractive in the management case, but the drawdown case argues against sizing as a proven compounder today.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572768"/>
            <a:ext cx="5230368" cy="4325112"/>
          </a:xfrm>
          <a:prstGeom prst="rect">
            <a:avLst/>
          </a:prstGeom>
          <a:solidFill>
            <a:srgbClr val="FFFFFF"/>
          </a:solidFill>
          <a:ln w="762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801368"/>
            <a:ext cx="47365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1" i="0" u="none">
                <a:solidFill>
                  <a:srgbClr val="32587D"/>
                </a:solidFill>
                <a:latin typeface="Aptos"/>
              </a:rPr>
              <a:t>WHY OWN IT</a:t>
            </a:r>
          </a:p>
        </p:txBody>
      </p:sp>
      <p:sp>
        <p:nvSpPr>
          <p:cNvPr id="13" name="Oval 12"/>
          <p:cNvSpPr/>
          <p:nvPr/>
        </p:nvSpPr>
        <p:spPr>
          <a:xfrm>
            <a:off x="804672" y="2244852"/>
            <a:ext cx="50292" cy="50292"/>
          </a:xfrm>
          <a:prstGeom prst="ellipse">
            <a:avLst/>
          </a:prstGeom>
          <a:solidFill>
            <a:srgbClr val="325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2157984"/>
            <a:ext cx="4535424" cy="4480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919" b="0" i="0" u="none">
                <a:solidFill>
                  <a:srgbClr val="272F38"/>
                </a:solidFill>
                <a:latin typeface="Aptos"/>
              </a:rPr>
              <a:t>Q2 revenue grew 70% y/y; member count reached 2.963m, up 46% y/y.</a:t>
            </a:r>
          </a:p>
        </p:txBody>
      </p:sp>
      <p:sp>
        <p:nvSpPr>
          <p:cNvPr id="15" name="Oval 14"/>
          <p:cNvSpPr/>
          <p:nvPr/>
        </p:nvSpPr>
        <p:spPr>
          <a:xfrm>
            <a:off x="804672" y="2848356"/>
            <a:ext cx="50292" cy="50292"/>
          </a:xfrm>
          <a:prstGeom prst="ellipse">
            <a:avLst/>
          </a:prstGeom>
          <a:solidFill>
            <a:srgbClr val="325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761488"/>
            <a:ext cx="4535424" cy="4480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919" b="0" i="0" u="none">
                <a:solidFill>
                  <a:srgbClr val="272F38"/>
                </a:solidFill>
                <a:latin typeface="Aptos"/>
              </a:rPr>
              <a:t>Q2 reported MLR and SG&amp;A improved materially, even after discounting for favorable development.</a:t>
            </a:r>
          </a:p>
        </p:txBody>
      </p:sp>
      <p:sp>
        <p:nvSpPr>
          <p:cNvPr id="17" name="Oval 16"/>
          <p:cNvSpPr/>
          <p:nvPr/>
        </p:nvSpPr>
        <p:spPr>
          <a:xfrm>
            <a:off x="804672" y="3451860"/>
            <a:ext cx="50292" cy="50292"/>
          </a:xfrm>
          <a:prstGeom prst="ellipse">
            <a:avLst/>
          </a:prstGeom>
          <a:solidFill>
            <a:srgbClr val="325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3364991"/>
            <a:ext cx="4535424" cy="4480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919" b="0" i="0" u="none">
                <a:solidFill>
                  <a:srgbClr val="272F38"/>
                </a:solidFill>
                <a:latin typeface="Aptos"/>
              </a:rPr>
              <a:t>Management’s 2029 goals create significant EPS upside if pricing, retention and fixed-cost leverage persist.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7240" y="4087368"/>
            <a:ext cx="4764024" cy="0"/>
          </a:xfrm>
          <a:prstGeom prst="line">
            <a:avLst/>
          </a:prstGeom>
          <a:ln w="8255">
            <a:solidFill>
              <a:srgbClr val="1B2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77240" y="4279392"/>
            <a:ext cx="10607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1" i="0" u="none">
                <a:solidFill>
                  <a:srgbClr val="32587D"/>
                </a:solidFill>
                <a:latin typeface="Aptos"/>
              </a:rPr>
              <a:t>WHY NOW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553712"/>
            <a:ext cx="4617720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930" b="0" i="0" u="none">
                <a:solidFill>
                  <a:srgbClr val="272F38"/>
                </a:solidFill>
                <a:latin typeface="Aptos"/>
              </a:rPr>
              <a:t>Q3 is scheduled for 5 Nov; 2027 Open Enrollment will then test paid member retention, not just gross sign-ups.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266944"/>
            <a:ext cx="4754880" cy="402336"/>
          </a:xfrm>
          <a:prstGeom prst="rect">
            <a:avLst/>
          </a:prstGeom>
          <a:solidFill>
            <a:srgbClr val="EB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85816"/>
            <a:ext cx="4480560" cy="1645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819" b="1" i="0" u="none">
                <a:solidFill>
                  <a:srgbClr val="1B2F44"/>
                </a:solidFill>
                <a:latin typeface="Aptos"/>
              </a:rPr>
              <a:t>Base case: ~$44 PV / share  |  $33.36 reference price  |  +32% PV upside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53328" y="1572768"/>
            <a:ext cx="5650992" cy="4325112"/>
          </a:xfrm>
          <a:prstGeom prst="rect">
            <a:avLst/>
          </a:prstGeom>
          <a:solidFill>
            <a:srgbClr val="F9FAFB"/>
          </a:solidFill>
          <a:ln w="762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91072" y="1801368"/>
            <a:ext cx="508406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1" i="0" u="none">
                <a:solidFill>
                  <a:srgbClr val="32587D"/>
                </a:solidFill>
                <a:latin typeface="Aptos"/>
              </a:rPr>
              <a:t>POSITIONING AND RE-UNDERWRITING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2176272"/>
            <a:ext cx="11155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u="none">
                <a:solidFill>
                  <a:srgbClr val="306F53"/>
                </a:solidFill>
                <a:latin typeface="Aptos"/>
              </a:rPr>
              <a:t>INITIATE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2157984"/>
            <a:ext cx="3959352" cy="4937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890" b="0" i="0" u="none">
                <a:solidFill>
                  <a:srgbClr val="272F38"/>
                </a:solidFill>
                <a:latin typeface="Aptos"/>
              </a:rPr>
              <a:t>Small / starter position ahead of Q3; high volatility and policy sensitivity argue against full size.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291072" y="2734056"/>
            <a:ext cx="5120640" cy="0"/>
          </a:xfrm>
          <a:prstGeom prst="line">
            <a:avLst/>
          </a:prstGeom>
          <a:ln w="6350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309360" y="2935224"/>
            <a:ext cx="11155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u="none">
                <a:solidFill>
                  <a:srgbClr val="306F53"/>
                </a:solidFill>
                <a:latin typeface="Aptos"/>
              </a:rPr>
              <a:t>ADD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2360" y="2916936"/>
            <a:ext cx="3959352" cy="4937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890" b="0" i="0" u="none">
                <a:solidFill>
                  <a:srgbClr val="272F38"/>
                </a:solidFill>
                <a:latin typeface="Aptos"/>
              </a:rPr>
              <a:t>Only if underlying MLR and risk-adjustment accruals support the FY26 outlook and Q3 membership remains healthy.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291072" y="3493008"/>
            <a:ext cx="5120640" cy="0"/>
          </a:xfrm>
          <a:prstGeom prst="line">
            <a:avLst/>
          </a:prstGeom>
          <a:ln w="6350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309360" y="3694176"/>
            <a:ext cx="11155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u="none">
                <a:solidFill>
                  <a:srgbClr val="A34D45"/>
                </a:solidFill>
                <a:latin typeface="Aptos"/>
              </a:rPr>
              <a:t>DO NOT ADD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52360" y="3675888"/>
            <a:ext cx="3959352" cy="4937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890" b="0" i="0" u="none">
                <a:solidFill>
                  <a:srgbClr val="272F38"/>
                </a:solidFill>
                <a:latin typeface="Aptos"/>
              </a:rPr>
              <a:t>If guidance is cut, payable expands faster than premium, or 2027 paid retention disappoints.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291072" y="4251960"/>
            <a:ext cx="5120640" cy="0"/>
          </a:xfrm>
          <a:prstGeom prst="line">
            <a:avLst/>
          </a:prstGeom>
          <a:ln w="6350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6291072" y="4736592"/>
            <a:ext cx="5120640" cy="859536"/>
          </a:xfrm>
          <a:prstGeom prst="rect">
            <a:avLst/>
          </a:prstGeom>
          <a:solidFill>
            <a:srgbClr val="F8E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73952" y="4910328"/>
            <a:ext cx="103327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90" b="1" i="0" u="none">
                <a:solidFill>
                  <a:srgbClr val="A34D45"/>
                </a:solidFill>
                <a:latin typeface="Aptos"/>
              </a:rPr>
              <a:t>ASYMMETRY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0" y="4846320"/>
            <a:ext cx="3584448" cy="4846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840" b="0" i="0" u="none">
                <a:solidFill>
                  <a:srgbClr val="272F38"/>
                </a:solidFill>
                <a:latin typeface="Aptos"/>
              </a:rPr>
              <a:t>$2 EPS × 10× miss case: ~$14.7 PV (−56%). $4 EPS × 15× case: ~$44 PV (+32%). No probabilities assigned.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3776" y="6245352"/>
            <a:ext cx="11137392" cy="1554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700" b="0" i="0" u="none">
                <a:solidFill>
                  <a:srgbClr val="86909A"/>
                </a:solidFill>
                <a:latin typeface="Aptos"/>
              </a:rPr>
              <a:t>Investment framework based on public information available at the cutoff; illustrative valuation is not a price target or individualized advice.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82880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0" b="1" i="0" u="none">
                <a:solidFill>
                  <a:srgbClr val="32587D"/>
                </a:solidFill>
                <a:latin typeface="Aptos"/>
              </a:rPr>
              <a:t>SOURCES AND ASSUMPTIONS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182880"/>
            <a:ext cx="2057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10" b="1" i="0" u="none">
                <a:solidFill>
                  <a:srgbClr val="65707B"/>
                </a:solidFill>
                <a:latin typeface="Aptos"/>
              </a:rPr>
              <a:t>12 OCTOBER 2026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75488" y="438912"/>
            <a:ext cx="11228832" cy="0"/>
          </a:xfrm>
          <a:prstGeom prst="line">
            <a:avLst/>
          </a:prstGeom>
          <a:ln w="12700">
            <a:solidFill>
              <a:srgbClr val="1B2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75488" y="6492240"/>
            <a:ext cx="11228832" cy="0"/>
          </a:xfrm>
          <a:prstGeom prst="line">
            <a:avLst/>
          </a:prstGeom>
          <a:ln w="7620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75488" y="6556248"/>
            <a:ext cx="80467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 i="0" u="none">
                <a:solidFill>
                  <a:srgbClr val="86909A"/>
                </a:solidFill>
                <a:latin typeface="Aptos"/>
              </a:rPr>
              <a:t>Oscar Health (OSCR)  |  Public-information analysis  |  12 Oct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547104"/>
            <a:ext cx="62179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40" b="1" i="0" u="none">
                <a:solidFill>
                  <a:srgbClr val="86909A"/>
                </a:solidFill>
                <a:latin typeface="Aptos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630936"/>
            <a:ext cx="1120140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2230" b="1" i="0" u="none">
                <a:solidFill>
                  <a:srgbClr val="1B2F44"/>
                </a:solidFill>
                <a:latin typeface="Aptos Display"/>
              </a:rPr>
              <a:t>Sources and model conventions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" y="1069848"/>
            <a:ext cx="1110996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040" b="0" i="0" u="none">
                <a:solidFill>
                  <a:srgbClr val="65707B"/>
                </a:solidFill>
                <a:latin typeface="Aptos"/>
              </a:rPr>
              <a:t>Company materials anchor results and targets; third-party market data is used only for dated valuation context.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554480"/>
            <a:ext cx="5458968" cy="4480560"/>
          </a:xfrm>
          <a:prstGeom prst="rect">
            <a:avLst/>
          </a:prstGeom>
          <a:solidFill>
            <a:srgbClr val="FFFFFF"/>
          </a:solidFill>
          <a:ln w="762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9632" y="1554480"/>
            <a:ext cx="5504688" cy="4480560"/>
          </a:xfrm>
          <a:prstGeom prst="rect">
            <a:avLst/>
          </a:prstGeom>
          <a:solidFill>
            <a:srgbClr val="FFFFFF"/>
          </a:solidFill>
          <a:ln w="762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1773936"/>
            <a:ext cx="4983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1" i="0" u="none">
                <a:solidFill>
                  <a:srgbClr val="32587D"/>
                </a:solidFill>
                <a:latin typeface="Aptos"/>
              </a:rPr>
              <a:t>COMPANY / REGULATORY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1773936"/>
            <a:ext cx="5029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1" i="0" u="none">
                <a:solidFill>
                  <a:srgbClr val="32587D"/>
                </a:solidFill>
                <a:latin typeface="Aptos"/>
              </a:rPr>
              <a:t>MARKET / THIRD PARTY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2103120"/>
            <a:ext cx="146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 i="0" u="none">
                <a:solidFill>
                  <a:srgbClr val="32587D"/>
                </a:solidFill>
                <a:latin typeface="Apto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103120"/>
            <a:ext cx="475488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u="sng">
                <a:solidFill>
                  <a:srgbClr val="32587D"/>
                </a:solidFill>
                <a:latin typeface="Aptos"/>
                <a:hlinkClick r:id="rId2"/>
              </a:rPr>
              <a:t>Oscar Q2 / H1 2026 results release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2532887"/>
            <a:ext cx="146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 i="0" u="none">
                <a:solidFill>
                  <a:srgbClr val="32587D"/>
                </a:solidFill>
                <a:latin typeface="Apto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532887"/>
            <a:ext cx="475488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u="sng">
                <a:solidFill>
                  <a:srgbClr val="32587D"/>
                </a:solidFill>
                <a:latin typeface="Aptos"/>
                <a:hlinkClick r:id="rId3"/>
              </a:rPr>
              <a:t>Oscar Q2 2026 Form 10-Q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2962656"/>
            <a:ext cx="146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 i="0" u="none">
                <a:solidFill>
                  <a:srgbClr val="32587D"/>
                </a:solidFill>
                <a:latin typeface="Aptos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2962656"/>
            <a:ext cx="475488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u="sng">
                <a:solidFill>
                  <a:srgbClr val="32587D"/>
                </a:solidFill>
                <a:latin typeface="Aptos"/>
                <a:hlinkClick r:id="rId4"/>
              </a:rPr>
              <a:t>Oscar FY2025 Form 10-K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" y="3392424"/>
            <a:ext cx="146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 i="0" u="none">
                <a:solidFill>
                  <a:srgbClr val="32587D"/>
                </a:solidFill>
                <a:latin typeface="Aptos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392424"/>
            <a:ext cx="475488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u="sng">
                <a:solidFill>
                  <a:srgbClr val="32587D"/>
                </a:solidFill>
                <a:latin typeface="Aptos"/>
                <a:hlinkClick r:id="rId5"/>
              </a:rPr>
              <a:t>Oscar 2026 Investor Day strategy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3822191"/>
            <a:ext cx="146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 i="0" u="none">
                <a:solidFill>
                  <a:srgbClr val="32587D"/>
                </a:solidFill>
                <a:latin typeface="Aptos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3822191"/>
            <a:ext cx="475488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u="sng">
                <a:solidFill>
                  <a:srgbClr val="32587D"/>
                </a:solidFill>
                <a:latin typeface="Aptos"/>
                <a:hlinkClick r:id="rId6"/>
              </a:rPr>
              <a:t>Oscar 2026 Investor Day fact sheet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" y="4251959"/>
            <a:ext cx="146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 i="0" u="none">
                <a:solidFill>
                  <a:srgbClr val="32587D"/>
                </a:solidFill>
                <a:latin typeface="Aptos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251959"/>
            <a:ext cx="475488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u="sng">
                <a:solidFill>
                  <a:srgbClr val="32587D"/>
                </a:solidFill>
                <a:latin typeface="Aptos"/>
                <a:hlinkClick r:id="rId7"/>
              </a:rPr>
              <a:t>Q2 2026 call transcript (ex-PPD MLR context)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" y="4681727"/>
            <a:ext cx="146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 i="0" u="none">
                <a:solidFill>
                  <a:srgbClr val="32587D"/>
                </a:solidFill>
                <a:latin typeface="Aptos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4681727"/>
            <a:ext cx="475488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u="sng">
                <a:solidFill>
                  <a:srgbClr val="32587D"/>
                </a:solidFill>
                <a:latin typeface="Aptos"/>
                <a:hlinkClick r:id="rId8"/>
              </a:rPr>
              <a:t>Oscar notice: Q3 results scheduled for Nov.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37376" y="2103120"/>
            <a:ext cx="146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 i="0" u="none">
                <a:solidFill>
                  <a:srgbClr val="32587D"/>
                </a:solidFill>
                <a:latin typeface="Aptos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11112" y="2103120"/>
            <a:ext cx="48006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u="sng">
                <a:solidFill>
                  <a:srgbClr val="32587D"/>
                </a:solidFill>
                <a:latin typeface="Aptos"/>
                <a:hlinkClick r:id="rId9"/>
              </a:rPr>
              <a:t>Yahoo Finance: OSCR quote / market value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37376" y="2532887"/>
            <a:ext cx="146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 i="0" u="none">
                <a:solidFill>
                  <a:srgbClr val="32587D"/>
                </a:solidFill>
                <a:latin typeface="Aptos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11112" y="2532887"/>
            <a:ext cx="48006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u="sng">
                <a:solidFill>
                  <a:srgbClr val="32587D"/>
                </a:solidFill>
                <a:latin typeface="Aptos"/>
                <a:hlinkClick r:id="rId10"/>
              </a:rPr>
              <a:t>Yahoo Finance: OSCR analyst estimates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37376" y="2962656"/>
            <a:ext cx="146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 i="0" u="none">
                <a:solidFill>
                  <a:srgbClr val="32587D"/>
                </a:solidFill>
                <a:latin typeface="Aptos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11112" y="2962656"/>
            <a:ext cx="48006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u="sng">
                <a:solidFill>
                  <a:srgbClr val="32587D"/>
                </a:solidFill>
                <a:latin typeface="Aptos"/>
                <a:hlinkClick r:id="rId11"/>
              </a:rPr>
              <a:t>Macrotrends: OSCR trailing revenue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37376" y="3392424"/>
            <a:ext cx="146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 i="0" u="none">
                <a:solidFill>
                  <a:srgbClr val="32587D"/>
                </a:solidFill>
                <a:latin typeface="Aptos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11112" y="3392424"/>
            <a:ext cx="48006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u="sng">
                <a:solidFill>
                  <a:srgbClr val="32587D"/>
                </a:solidFill>
                <a:latin typeface="Aptos"/>
                <a:hlinkClick r:id="rId12"/>
              </a:rPr>
              <a:t>KFF: 2026 Marketplace insurer participation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37376" y="3822191"/>
            <a:ext cx="146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 i="0" u="none">
                <a:solidFill>
                  <a:srgbClr val="32587D"/>
                </a:solidFill>
                <a:latin typeface="Aptos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11112" y="3822191"/>
            <a:ext cx="48006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u="sng">
                <a:solidFill>
                  <a:srgbClr val="32587D"/>
                </a:solidFill>
                <a:latin typeface="Aptos"/>
                <a:hlinkClick r:id="rId13"/>
              </a:rPr>
              <a:t>KFF: 2027 Marketplace exits and entries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37376" y="4251959"/>
            <a:ext cx="146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 i="0" u="none">
                <a:solidFill>
                  <a:srgbClr val="32587D"/>
                </a:solidFill>
                <a:latin typeface="Aptos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11112" y="4251959"/>
            <a:ext cx="48006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u="sng">
                <a:solidFill>
                  <a:srgbClr val="32587D"/>
                </a:solidFill>
                <a:latin typeface="Aptos"/>
                <a:hlinkClick r:id="rId14"/>
              </a:rPr>
              <a:t>CMS / HealthCare.gov: Open Enrollment dates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37376" y="4681727"/>
            <a:ext cx="146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 i="0" u="none">
                <a:solidFill>
                  <a:srgbClr val="32587D"/>
                </a:solidFill>
                <a:latin typeface="Aptos"/>
              </a:rP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11112" y="4681727"/>
            <a:ext cx="48006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u="sng">
                <a:solidFill>
                  <a:srgbClr val="32587D"/>
                </a:solidFill>
                <a:latin typeface="Aptos"/>
                <a:hlinkClick r:id="rId15"/>
              </a:rPr>
              <a:t>KFF: 2027 proposed premium increases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6144768"/>
            <a:ext cx="11155680" cy="237744"/>
          </a:xfrm>
          <a:prstGeom prst="rect">
            <a:avLst/>
          </a:prstGeom>
          <a:solidFill>
            <a:srgbClr val="EB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" y="6190488"/>
            <a:ext cx="10881360" cy="12801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720" b="0" i="0" u="none">
                <a:solidFill>
                  <a:srgbClr val="1B2F44"/>
                </a:solidFill>
                <a:latin typeface="Aptos"/>
              </a:rPr>
              <a:t>MODEL: $33.36 reference price  |  3.25 years to 2029  |  10% discount rate  |  no probability weighting  |  Yahoo FY27 sales estimate may be stale  |  management targets are not forecasts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Oscar Health (OSCR) — Long Equity Thesis — 12 October 2026</dc:title>
  <dc:subject>Institutional-style public-equity pitch with valuation, catalysts, risks and source notes</dc:subject>
  <dc:creator>Public-information analysis</dc:creator>
  <cp:keywords>Oscar Health, OSCR, ACA, equity research, valuation, 2026</cp:keywords>
  <dc:description>Prepared from public information available through 12 October 2026. Management targets are forward-looking and not guarantees.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